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111" autoAdjust="0"/>
  </p:normalViewPr>
  <p:slideViewPr>
    <p:cSldViewPr snapToGrid="0" snapToObjects="1">
      <p:cViewPr varScale="1">
        <p:scale>
          <a:sx n="75" d="100"/>
          <a:sy n="75" d="100"/>
        </p:scale>
        <p:origin x="94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DD775-8A2C-4F53-8EFF-23FCB884861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000F71-0144-4048-995E-84B62B502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78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00F71-0144-4048-995E-84B62B5024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5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22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85000"/>
                </a:srgbClr>
              </a:gs>
              <a:gs pos="50000">
                <a:srgbClr val="FFFFFF">
                  <a:alpha val="80000"/>
                </a:srgbClr>
              </a:gs>
              <a:gs pos="100000">
                <a:srgbClr val="FFFFFF">
                  <a:alpha val="7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8643" y="619214"/>
            <a:ext cx="1333466" cy="10094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84" y="5340419"/>
            <a:ext cx="1142971" cy="86346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980" y="707922"/>
            <a:ext cx="761980" cy="56535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72485" y="5435759"/>
            <a:ext cx="857228" cy="65373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4857" y="553679"/>
            <a:ext cx="761980" cy="5499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03769" y="1485547"/>
            <a:ext cx="7593681" cy="1438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1560"/>
              </a:spcAft>
            </a:pPr>
            <a:r>
              <a:rPr sz="4400" b="1">
                <a:solidFill>
                  <a:srgbClr val="1A1A1A"/>
                </a:solidFill>
                <a:latin typeface="Poppins"/>
              </a:rPr>
              <a:t> Support Vector Machines</a:t>
            </a:r>
            <a:r>
              <a:rPr sz="1600"/>
              <a:t>
</a:t>
            </a:r>
            <a:r>
              <a:rPr sz="4400" b="1">
                <a:solidFill>
                  <a:srgbClr val="1A1A1A"/>
                </a:solidFill>
                <a:latin typeface="Poppins"/>
              </a:rPr>
              <a:t> </a:t>
            </a:r>
            <a:r>
              <a:rPr sz="4400" b="1">
                <a:solidFill>
                  <a:srgbClr val="1399FF"/>
                </a:solidFill>
                <a:latin typeface="Poppins"/>
              </a:rPr>
              <a:t>&amp;</a:t>
            </a:r>
            <a:r>
              <a:rPr sz="4400" b="1">
                <a:solidFill>
                  <a:srgbClr val="1A1A1A"/>
                </a:solidFill>
                <a:latin typeface="Poppins"/>
              </a:rPr>
              <a:t> K-Nearest Neighbors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4777" y="3181350"/>
            <a:ext cx="914377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9CA3AF"/>
              </a:gs>
              <a:gs pos="100000">
                <a:srgbClr val="9CA3A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81550" y="3098006"/>
            <a:ext cx="228594" cy="18573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62540" y="3181350"/>
            <a:ext cx="914377" cy="19050"/>
          </a:xfrm>
          <a:prstGeom prst="rect">
            <a:avLst/>
          </a:prstGeom>
          <a:gradFill rotWithShape="1">
            <a:gsLst>
              <a:gs pos="0">
                <a:srgbClr val="9CA3AF"/>
              </a:gs>
              <a:gs pos="50000">
                <a:srgbClr val="9CA3AF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4293127" y="3572132"/>
            <a:ext cx="3614965" cy="38048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2000" b="1">
                <a:solidFill>
                  <a:srgbClr val="333333"/>
                </a:solidFill>
                <a:latin typeface="Inter"/>
              </a:rPr>
              <a:t>Machine Learning Fundamentals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52636" y="4371975"/>
            <a:ext cx="7095947" cy="1085850"/>
          </a:xfrm>
          <a:prstGeom prst="roundRect">
            <a:avLst>
              <a:gd name="adj" fmla="val 28070"/>
            </a:avLst>
          </a:prstGeom>
          <a:solidFill>
            <a:srgbClr val="FFFFF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5115628" y="4572634"/>
            <a:ext cx="196996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1A1A1A"/>
                </a:solidFill>
                <a:latin typeface="Inter"/>
              </a:rPr>
              <a:t>Eng. Ahmed Métwalli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0085" y="4920695"/>
            <a:ext cx="3361049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666666"/>
                </a:solidFill>
                <a:latin typeface="Inter"/>
              </a:rPr>
              <a:t>Assistant Lecturer (Complementary Lecture)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5587" y="5874597"/>
            <a:ext cx="657489" cy="27135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1050" b="0">
                <a:solidFill>
                  <a:srgbClr val="6B7280"/>
                </a:solidFill>
                <a:latin typeface="Inter"/>
              </a:rPr>
              <a:t>Lecture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1752" y="6111321"/>
            <a:ext cx="1985160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Inter"/>
              </a:rPr>
              <a:t>Classification Algorithms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48283" y="5934075"/>
            <a:ext cx="9524" cy="45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7276770" y="5874597"/>
            <a:ext cx="495585" cy="27135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1050" b="0">
                <a:solidFill>
                  <a:srgbClr val="6B7280"/>
                </a:solidFill>
                <a:latin typeface="Inter"/>
              </a:rPr>
              <a:t>Topics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6792" y="6111321"/>
            <a:ext cx="1035540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Inter"/>
              </a:rPr>
              <a:t>SVM &amp; KNN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010"/>
            <a:ext cx="2624373" cy="5720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2937"/>
                </a:solidFill>
                <a:latin typeface="Poppins"/>
              </a:rPr>
              <a:t>Quick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5942" y="1847849"/>
            <a:ext cx="1523961" cy="1523999"/>
          </a:xfrm>
          <a:prstGeom prst="roundRect">
            <a:avLst>
              <a:gd name="adj" fmla="val 1249875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71685" y="2275856"/>
            <a:ext cx="952476" cy="6679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05012" y="3676649"/>
            <a:ext cx="1066773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560"/>
              </a:spcAft>
            </a:pPr>
            <a:r>
              <a:rPr sz="3200" b="1">
                <a:solidFill>
                  <a:srgbClr val="1F2937"/>
                </a:solidFill>
                <a:latin typeface="Poppins"/>
              </a:rPr>
              <a:t>SVM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8356" y="4560003"/>
            <a:ext cx="2219133" cy="3668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600" b="1">
                <a:solidFill>
                  <a:srgbClr val="1399FF"/>
                </a:solidFill>
                <a:latin typeface="Inter"/>
              </a:rPr>
              <a:t>Support Vector Machine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9744" y="5219700"/>
            <a:ext cx="609584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3626" y="5155882"/>
            <a:ext cx="228594" cy="1657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76518" y="5219700"/>
            <a:ext cx="609584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1810020" y="5474403"/>
            <a:ext cx="2475806" cy="3668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1040"/>
              </a:spcBef>
              <a:spcAft>
                <a:spcPts val="0"/>
              </a:spcAft>
            </a:pPr>
            <a:r>
              <a:rPr sz="1600" b="1">
                <a:solidFill>
                  <a:srgbClr val="374151"/>
                </a:solidFill>
                <a:latin typeface="Inter"/>
              </a:rPr>
              <a:t>Find the best separator 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1790" y="1847849"/>
            <a:ext cx="1523961" cy="1523999"/>
          </a:xfrm>
          <a:prstGeom prst="roundRect">
            <a:avLst>
              <a:gd name="adj" fmla="val 12498750"/>
            </a:avLst>
          </a:prstGeom>
          <a:gradFill rotWithShape="1">
            <a:gsLst>
              <a:gs pos="0">
                <a:srgbClr val="22C55E"/>
              </a:gs>
              <a:gs pos="100000">
                <a:srgbClr val="16A34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533" y="2365539"/>
            <a:ext cx="952476" cy="4886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10384" y="3676649"/>
            <a:ext cx="1057248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560"/>
              </a:spcAft>
            </a:pPr>
            <a:r>
              <a:rPr sz="3200" b="1">
                <a:solidFill>
                  <a:srgbClr val="1F2937"/>
                </a:solidFill>
                <a:latin typeface="Poppins"/>
              </a:rPr>
              <a:t>KNN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3040" y="4560003"/>
            <a:ext cx="1821461" cy="3668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600" b="1">
                <a:solidFill>
                  <a:srgbClr val="44B54B"/>
                </a:solidFill>
                <a:latin typeface="Inter"/>
              </a:rPr>
              <a:t>K-Nearest Neighbor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05592" y="5219700"/>
            <a:ext cx="609584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29474" y="5155882"/>
            <a:ext cx="228594" cy="16573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372365" y="5219700"/>
            <a:ext cx="609584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8156289" y="5474403"/>
            <a:ext cx="1974963" cy="3668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1040"/>
              </a:spcBef>
              <a:spcAft>
                <a:spcPts val="0"/>
              </a:spcAft>
            </a:pPr>
            <a:r>
              <a:rPr sz="1600" b="1">
                <a:solidFill>
                  <a:srgbClr val="374151"/>
                </a:solidFill>
                <a:latin typeface="Inter"/>
              </a:rPr>
              <a:t>Learn from neighbors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262883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Poppins"/>
              </a:rPr>
              <a:t>What is SVM?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876424"/>
            <a:ext cx="1866853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" name="TextBox 3"/>
          <p:cNvSpPr txBox="1"/>
          <p:nvPr/>
        </p:nvSpPr>
        <p:spPr>
          <a:xfrm>
            <a:off x="761980" y="1932931"/>
            <a:ext cx="1701300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399FF"/>
                </a:solidFill>
                <a:latin typeface="Inter"/>
              </a:rPr>
              <a:t>Support Vector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486025"/>
            <a:ext cx="4876678" cy="10858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705"/>
              </a:lnSpc>
              <a:spcBef>
                <a:spcPts val="0"/>
              </a:spcBef>
              <a:spcAft>
                <a:spcPts val="2080"/>
              </a:spcAft>
            </a:pPr>
            <a:r>
              <a:rPr sz="3109" b="1" dirty="0">
                <a:solidFill>
                  <a:srgbClr val="1F2937"/>
                </a:solidFill>
                <a:latin typeface="Poppins"/>
              </a:rPr>
              <a:t> Find the Best</a:t>
            </a:r>
            <a:r>
              <a:rPr lang="en-US" sz="1104" dirty="0"/>
              <a:t>
</a:t>
            </a:r>
            <a:r>
              <a:rPr sz="3109" b="1" dirty="0">
                <a:solidFill>
                  <a:srgbClr val="1F2937"/>
                </a:solidFill>
                <a:latin typeface="Poppins"/>
              </a:rPr>
              <a:t>Dividing Line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391477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4832" y="4070902"/>
            <a:ext cx="266693" cy="1449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9169" y="3838831"/>
            <a:ext cx="2409057" cy="38048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>
                <a:solidFill>
                  <a:srgbClr val="1F2937"/>
                </a:solidFill>
                <a:latin typeface="Inter"/>
              </a:rPr>
              <a:t>Maximize the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4383790"/>
            <a:ext cx="4267093" cy="36689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B5563"/>
                </a:solidFill>
                <a:latin typeface="Inter"/>
              </a:rPr>
              <a:t>Create the widest possible gap between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51435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32" y="5259042"/>
            <a:ext cx="266693" cy="2261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169" y="5067557"/>
            <a:ext cx="1909497" cy="38048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>
                <a:solidFill>
                  <a:srgbClr val="1F2937"/>
                </a:solidFill>
                <a:latin typeface="Inter"/>
              </a:rPr>
              <a:t>Separate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169" y="5460116"/>
            <a:ext cx="3567130" cy="3668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B5563"/>
                </a:solidFill>
                <a:latin typeface="Inter"/>
              </a:rPr>
              <a:t>Find optimal hyperplane for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262" y="685800"/>
            <a:ext cx="6248244" cy="5524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96227" y="5410199"/>
            <a:ext cx="1990675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43871" y="5543550"/>
            <a:ext cx="1495387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 dirty="0">
                <a:solidFill>
                  <a:srgbClr val="1399FF"/>
                </a:solidFill>
                <a:latin typeface="Inter"/>
              </a:rPr>
              <a:t>MAXIMUM</a:t>
            </a:r>
            <a:r>
              <a:rPr sz="1104" dirty="0"/>
              <a:t>
</a:t>
            </a:r>
            <a:r>
              <a:rPr sz="1794" b="1" dirty="0">
                <a:solidFill>
                  <a:srgbClr val="1399FF"/>
                </a:solidFill>
                <a:latin typeface="Inter"/>
              </a:rPr>
              <a:t>MARGIN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13364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Poppins"/>
              </a:rPr>
              <a:t>How SVM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525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838179" y="1203072"/>
            <a:ext cx="2042675" cy="4132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2937"/>
                </a:solidFill>
                <a:latin typeface="Inter"/>
              </a:rPr>
              <a:t>Blue Points: </a:t>
            </a:r>
            <a:r>
              <a:rPr sz="2400" b="1">
                <a:solidFill>
                  <a:srgbClr val="1399FF"/>
                </a:solidFill>
                <a:latin typeface="Inter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9240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838179" y="1774572"/>
            <a:ext cx="1962845" cy="4132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2937"/>
                </a:solidFill>
                <a:latin typeface="Inter"/>
              </a:rPr>
              <a:t>Red Points: </a:t>
            </a:r>
            <a:r>
              <a:rPr sz="2400" b="1">
                <a:solidFill>
                  <a:srgbClr val="EF4444"/>
                </a:solidFill>
                <a:latin typeface="Inter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2457450"/>
            <a:ext cx="4267093" cy="13716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933426" y="2743457"/>
            <a:ext cx="3264612" cy="38048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2000" b="1">
                <a:solidFill>
                  <a:srgbClr val="1F2937"/>
                </a:solidFill>
                <a:latin typeface="Inter"/>
              </a:rPr>
              <a:t>Best Line Maximizes Distance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3426" y="3270738"/>
            <a:ext cx="304792" cy="1641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4417" y="3181984"/>
            <a:ext cx="238988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B5563"/>
                </a:solidFill>
                <a:latin typeface="Inter"/>
              </a:rPr>
              <a:t>Widest possible separation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4133849"/>
            <a:ext cx="4267093" cy="22860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F0FDF4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933426" y="4458334"/>
            <a:ext cx="133151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374151"/>
                </a:solidFill>
                <a:latin typeface="Inter"/>
              </a:rPr>
              <a:t>Margin Width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9944" y="4537512"/>
            <a:ext cx="342891" cy="183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3426" y="4975702"/>
            <a:ext cx="3619409" cy="75469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44B54B"/>
                </a:solidFill>
                <a:latin typeface="Poppins"/>
              </a:rPr>
              <a:t>3.2 </a:t>
            </a:r>
            <a:r>
              <a:rPr sz="1600" b="1" dirty="0">
                <a:solidFill>
                  <a:srgbClr val="44B54B"/>
                </a:solidFill>
                <a:latin typeface="Poppins"/>
              </a:rPr>
              <a:t>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26" y="5796996"/>
            <a:ext cx="1055032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Inter"/>
              </a:rPr>
              <a:t>MAXIMIZED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451" y="1257300"/>
            <a:ext cx="5791055" cy="5143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43871" y="1485900"/>
            <a:ext cx="1362040" cy="876299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53416" y="1619250"/>
            <a:ext cx="942951" cy="6096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99FF"/>
                </a:solidFill>
                <a:latin typeface="Inter"/>
              </a:rPr>
              <a:t>MAX</a:t>
            </a:r>
            <a:r>
              <a:rPr sz="1104"/>
              <a:t>
</a:t>
            </a:r>
            <a:r>
              <a:rPr sz="1435" b="1">
                <a:solidFill>
                  <a:srgbClr val="1399FF"/>
                </a:solidFill>
                <a:latin typeface="Inter"/>
              </a:rPr>
              <a:t>MARGIN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F90B9C8-1EF0-4A32-85FA-649FFAFC47BB}"/>
                  </a:ext>
                </a:extLst>
              </p:cNvPr>
              <p:cNvSpPr txBox="1"/>
              <p:nvPr/>
            </p:nvSpPr>
            <p:spPr>
              <a:xfrm>
                <a:off x="5821475" y="584716"/>
                <a:ext cx="318683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 two margin boundaries are: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EG"/>
                          </m:ctrlPr>
                        </m:sSupPr>
                        <m:e>
                          <m:r>
                            <a:rPr lang="ar-EG" i="1"/>
                            <m:t>𝑤</m:t>
                          </m:r>
                        </m:e>
                        <m:sup>
                          <m:r>
                            <a:rPr lang="ar-EG" i="1"/>
                            <m:t>𝑇</m:t>
                          </m:r>
                        </m:sup>
                      </m:sSup>
                      <m:r>
                        <a:rPr lang="ar-EG" i="1"/>
                        <m:t>𝑥</m:t>
                      </m:r>
                      <m:r>
                        <a:rPr lang="ar-EG"/>
                        <m:t>+</m:t>
                      </m:r>
                      <m:r>
                        <a:rPr lang="ar-EG" i="1"/>
                        <m:t>𝑏</m:t>
                      </m:r>
                      <m:r>
                        <a:rPr lang="ar-EG"/>
                        <m:t>=+</m:t>
                      </m:r>
                      <m:r>
                        <a:rPr lang="ar-EG"/>
                        <m:t>1</m:t>
                      </m:r>
                    </m:oMath>
                  </m:oMathPara>
                </a14:m>
                <a:endParaRPr lang="ar-EG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EG"/>
                          </m:ctrlPr>
                        </m:sSupPr>
                        <m:e>
                          <m:r>
                            <a:rPr lang="ar-EG" i="1"/>
                            <m:t>𝑤</m:t>
                          </m:r>
                        </m:e>
                        <m:sup>
                          <m:r>
                            <a:rPr lang="ar-EG" i="1"/>
                            <m:t>𝑇</m:t>
                          </m:r>
                        </m:sup>
                      </m:sSup>
                      <m:r>
                        <a:rPr lang="ar-EG" i="1"/>
                        <m:t>𝑥</m:t>
                      </m:r>
                      <m:r>
                        <a:rPr lang="ar-EG"/>
                        <m:t>+</m:t>
                      </m:r>
                      <m:r>
                        <a:rPr lang="ar-EG" i="1"/>
                        <m:t>𝑏</m:t>
                      </m:r>
                      <m:r>
                        <a:rPr lang="ar-EG"/>
                        <m:t>=−</m:t>
                      </m:r>
                      <m:r>
                        <a:rPr lang="ar-EG"/>
                        <m:t>1</m:t>
                      </m:r>
                    </m:oMath>
                  </m:oMathPara>
                </a14:m>
                <a:endParaRPr lang="ar-EG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F90B9C8-1EF0-4A32-85FA-649FFAFC4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475" y="584716"/>
                <a:ext cx="3186834" cy="1200329"/>
              </a:xfrm>
              <a:prstGeom prst="rect">
                <a:avLst/>
              </a:prstGeom>
              <a:blipFill>
                <a:blip r:embed="rId5"/>
                <a:stretch>
                  <a:fillRect l="-1721" t="-3046" r="-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C8969AE-6EAE-CA20-7E7B-FC8FE582C0FE}"/>
              </a:ext>
            </a:extLst>
          </p:cNvPr>
          <p:cNvSpPr txBox="1"/>
          <p:nvPr/>
        </p:nvSpPr>
        <p:spPr>
          <a:xfrm>
            <a:off x="4689987" y="4000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188" y="504824"/>
            <a:ext cx="5181470" cy="2009774"/>
          </a:xfrm>
          <a:prstGeom prst="roundRect">
            <a:avLst>
              <a:gd name="adj" fmla="val 15165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828853" y="468730"/>
            <a:ext cx="290505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1F2937"/>
                </a:solidFill>
                <a:latin typeface="Poppins"/>
              </a:rPr>
              <a:t>SVM Equations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32" y="790160"/>
            <a:ext cx="266693" cy="191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723" y="752475"/>
            <a:ext cx="212402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</a:rPr>
              <a:t>Optimization Objective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832" y="1133475"/>
            <a:ext cx="4686182" cy="1133475"/>
          </a:xfrm>
          <a:prstGeom prst="roundRect">
            <a:avLst>
              <a:gd name="adj" fmla="val 20168"/>
            </a:avLst>
          </a:prstGeom>
          <a:solidFill>
            <a:srgbClr val="FFFF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4852" y="1333500"/>
            <a:ext cx="428614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Roboto Mono"/>
              </a:rPr>
              <a:t>min (1/2)||w||²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1781174"/>
            <a:ext cx="42861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1">
                <a:solidFill>
                  <a:srgbClr val="4B5563"/>
                </a:solidFill>
                <a:latin typeface="Roboto Mono"/>
              </a:rPr>
              <a:t>subject to: yᵢ(w·xᵢ + b) ≥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188" y="2743200"/>
            <a:ext cx="5181470" cy="20574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F0FDF4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832" y="3086514"/>
            <a:ext cx="266693" cy="753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7723" y="2990849"/>
            <a:ext cx="176208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</a:rPr>
              <a:t>Decision Boundary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832" y="3371850"/>
            <a:ext cx="4686182" cy="1181099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8255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4852" y="3571875"/>
            <a:ext cx="428614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Roboto Mono"/>
              </a:rPr>
              <a:t>w·x + b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52" y="4086225"/>
            <a:ext cx="428614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Inter"/>
              </a:rPr>
              <a:t>Hyperplane separating classes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188" y="4914900"/>
            <a:ext cx="5181470" cy="1714499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FAF5FF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881" y="5109126"/>
            <a:ext cx="266693" cy="1449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7723" y="5049633"/>
            <a:ext cx="125726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1F2937"/>
                </a:solidFill>
                <a:latin typeface="Inter"/>
              </a:rPr>
              <a:t>Margin Width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881" y="5408194"/>
            <a:ext cx="4686182" cy="8763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8255">
            <a:solidFill>
              <a:srgbClr val="F3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4852" y="5368371"/>
            <a:ext cx="4286142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9C27B0"/>
                </a:solidFill>
                <a:latin typeface="Roboto Mono"/>
              </a:rPr>
              <a:t>2/||w||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54" y="5981701"/>
            <a:ext cx="428614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Inter"/>
              </a:rPr>
              <a:t>Distance between hyperplanes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3344" y="504824"/>
            <a:ext cx="5181470" cy="6063616"/>
          </a:xfrm>
          <a:prstGeom prst="roundRect">
            <a:avLst>
              <a:gd name="adj" fmla="val 5882"/>
            </a:avLst>
          </a:prstGeom>
          <a:gradFill rotWithShape="1">
            <a:gsLst>
              <a:gs pos="0">
                <a:srgbClr val="FFF7ED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76878" y="8382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2125" y="962439"/>
            <a:ext cx="266693" cy="20872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48363" y="838200"/>
            <a:ext cx="3152696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F2937"/>
                </a:solidFill>
                <a:latin typeface="Poppins"/>
              </a:rPr>
              <a:t>Numerical Example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76878" y="1523999"/>
            <a:ext cx="4533786" cy="1504948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67373" y="1569720"/>
            <a:ext cx="41337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4B5563"/>
                </a:solidFill>
                <a:latin typeface="Inter"/>
              </a:rPr>
              <a:t>Given Parameters: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7373" y="1950719"/>
            <a:ext cx="41337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 Mono"/>
              </a:rPr>
              <a:t>w = [2, 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7373" y="2293620"/>
            <a:ext cx="41337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 Mono"/>
              </a:rPr>
              <a:t>b = 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7373" y="2636520"/>
            <a:ext cx="41337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 Mono"/>
              </a:rPr>
              <a:t>x = [4, 2]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76878" y="3217905"/>
            <a:ext cx="4533786" cy="1687829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76898" y="3256009"/>
            <a:ext cx="41337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4B5563"/>
                </a:solidFill>
                <a:latin typeface="Inter"/>
              </a:rPr>
              <a:t>Calculation: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6898" y="3637008"/>
            <a:ext cx="4133746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0">
                <a:solidFill>
                  <a:srgbClr val="1F2937"/>
                </a:solidFill>
                <a:latin typeface="Roboto Mono"/>
              </a:rPr>
              <a:t>w·x + b = (2×4) + (1×2) - 3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6898" y="4037059"/>
            <a:ext cx="4133746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0">
                <a:solidFill>
                  <a:srgbClr val="1F2937"/>
                </a:solidFill>
                <a:latin typeface="Roboto Mono"/>
              </a:rPr>
              <a:t>= 8 + 2 - 3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6898" y="4418059"/>
            <a:ext cx="4133746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E65100"/>
                </a:solidFill>
                <a:latin typeface="Roboto Mono"/>
              </a:rPr>
              <a:t>= 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76878" y="5254071"/>
            <a:ext cx="4533786" cy="1238249"/>
          </a:xfrm>
          <a:prstGeom prst="roundRect">
            <a:avLst>
              <a:gd name="adj" fmla="val 18461"/>
            </a:avLst>
          </a:prstGeom>
          <a:solidFill>
            <a:srgbClr val="FFEDD5"/>
          </a:solidFill>
          <a:ln w="1651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86422" y="5558871"/>
            <a:ext cx="118107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374151"/>
                </a:solidFill>
                <a:latin typeface="Inter"/>
              </a:rPr>
              <a:t>Decision Rule: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422" y="5901771"/>
            <a:ext cx="118107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Inter"/>
              </a:rPr>
              <a:t>Since 7 &gt; 0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43931" y="5499715"/>
            <a:ext cx="457188" cy="38501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362940" y="6016071"/>
            <a:ext cx="83817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196" b="1">
                <a:solidFill>
                  <a:srgbClr val="E65100"/>
                </a:solidFill>
                <a:latin typeface="Poppins"/>
              </a:rPr>
              <a:t>CLASS +1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81942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Poppins"/>
              </a:rPr>
              <a:t>Hard vs Soft Margin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943100"/>
            <a:ext cx="2038299" cy="45720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079" y="2038349"/>
            <a:ext cx="1657308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4B54B"/>
                </a:solidFill>
                <a:latin typeface="Inter"/>
              </a:rPr>
              <a:t>HARD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276224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3881" y="2899996"/>
            <a:ext cx="304792" cy="2579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5367" y="2705099"/>
            <a:ext cx="260978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</a:rPr>
              <a:t>Perfect Separation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086100"/>
            <a:ext cx="260978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</a:rPr>
              <a:t>All points classified correctly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371475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881" y="3852496"/>
            <a:ext cx="304792" cy="2579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95367" y="3657600"/>
            <a:ext cx="262883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</a:rPr>
              <a:t>0 Errors Allowed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367" y="4038599"/>
            <a:ext cx="262883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</a:rPr>
              <a:t>Strict boundary requirements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610099"/>
            <a:ext cx="4867153" cy="1104900"/>
          </a:xfrm>
          <a:prstGeom prst="roundRect">
            <a:avLst>
              <a:gd name="adj" fmla="val 20689"/>
            </a:avLst>
          </a:prstGeom>
          <a:solidFill>
            <a:srgbClr val="F0FDF4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7228" y="4857750"/>
            <a:ext cx="43718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374151"/>
                </a:solidFill>
                <a:latin typeface="Inter"/>
              </a:rPr>
              <a:t>Outlier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28" y="5200650"/>
            <a:ext cx="43718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Inter"/>
              </a:rPr>
              <a:t>Not suitable for noisy data with outliers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432" y="1943100"/>
            <a:ext cx="1990675" cy="45720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95927" y="2038349"/>
            <a:ext cx="1609684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99FF"/>
                </a:solidFill>
                <a:latin typeface="Inter"/>
              </a:rPr>
              <a:t>SOFT MARGIN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5432" y="276224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9729" y="2946888"/>
            <a:ext cx="304792" cy="1641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91215" y="2705099"/>
            <a:ext cx="276218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</a:rPr>
              <a:t>Allow Some 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1215" y="3086100"/>
            <a:ext cx="276218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</a:rPr>
              <a:t>1-2 points can be misclassified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5432" y="371475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9729" y="3864219"/>
            <a:ext cx="304792" cy="2344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91215" y="3657600"/>
            <a:ext cx="257168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</a:rPr>
              <a:t>Penalty Parameter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1215" y="4038599"/>
            <a:ext cx="25716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196" b="1">
                <a:solidFill>
                  <a:srgbClr val="1399FF"/>
                </a:solidFill>
                <a:latin typeface="Inter"/>
              </a:rPr>
              <a:t>C = 1.0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5432" y="4610099"/>
            <a:ext cx="4876678" cy="1104900"/>
          </a:xfrm>
          <a:prstGeom prst="roundRect">
            <a:avLst>
              <a:gd name="adj" fmla="val 20689"/>
            </a:avLst>
          </a:prstGeom>
          <a:solidFill>
            <a:srgbClr val="EFF6FF"/>
          </a:soli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53076" y="4857750"/>
            <a:ext cx="438139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374151"/>
                </a:solidFill>
                <a:latin typeface="Inter"/>
              </a:rPr>
              <a:t>Outlier Handling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3076" y="5200650"/>
            <a:ext cx="438139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Inter"/>
              </a:rPr>
              <a:t>Robust to outliers with penalty factor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260025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Poppins"/>
              </a:rPr>
              <a:t>What is KNN?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504950"/>
            <a:ext cx="2209744" cy="419100"/>
          </a:xfrm>
          <a:prstGeom prst="roundRect">
            <a:avLst>
              <a:gd name="adj" fmla="val 3636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079" y="1600200"/>
            <a:ext cx="18287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4B54B"/>
                </a:solidFill>
                <a:latin typeface="Inter"/>
              </a:rPr>
              <a:t>K-Nearest Neighbor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305049"/>
            <a:ext cx="4876678" cy="1238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225"/>
              </a:lnSpc>
              <a:spcBef>
                <a:spcPts val="0"/>
              </a:spcBef>
              <a:spcAft>
                <a:spcPts val="3120"/>
              </a:spcAft>
            </a:pPr>
            <a:r>
              <a:rPr sz="3109" b="1">
                <a:solidFill>
                  <a:srgbClr val="1F2937"/>
                </a:solidFill>
                <a:latin typeface="Poppins"/>
              </a:rPr>
              <a:t> Birds of a Feather</a:t>
            </a:r>
            <a:r>
              <a:rPr sz="1104"/>
              <a:t>
</a:t>
            </a:r>
            <a:r>
              <a:rPr sz="3109" b="1">
                <a:solidFill>
                  <a:srgbClr val="1F2937"/>
                </a:solidFill>
                <a:latin typeface="Poppins"/>
              </a:rPr>
              <a:t>Flock Together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40576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4832" y="4183338"/>
            <a:ext cx="266693" cy="205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9169" y="4000500"/>
            <a:ext cx="352416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</a:rPr>
              <a:t>Non-parametric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4305300"/>
            <a:ext cx="352416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</a:rPr>
              <a:t>No assumptions about data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48577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32" y="5013877"/>
            <a:ext cx="266693" cy="1449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169" y="4800600"/>
            <a:ext cx="266693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</a:rPr>
              <a:t>Learn from Neighbors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169" y="5105400"/>
            <a:ext cx="266693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</a:rPr>
              <a:t>Similarity drives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56578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832" y="5792235"/>
            <a:ext cx="266693" cy="1884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9169" y="5600700"/>
            <a:ext cx="311459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</a:rPr>
              <a:t>Simple &amp; Intuitive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169" y="5905500"/>
            <a:ext cx="311459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</a:rPr>
              <a:t>Easy to understand and implement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4982" y="1352549"/>
            <a:ext cx="6705738" cy="4952999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794673" y="5521558"/>
            <a:ext cx="2143071" cy="53339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8939" y="5604509"/>
            <a:ext cx="16477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44B54B"/>
                </a:solidFill>
                <a:latin typeface="Inter"/>
              </a:rPr>
              <a:t>Pattern Recognition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10507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Poppins"/>
              </a:rPr>
              <a:t>How KNN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943100"/>
            <a:ext cx="1066773" cy="1066799"/>
          </a:xfrm>
          <a:prstGeom prst="roundRect">
            <a:avLst>
              <a:gd name="adj" fmla="val 1785535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8199" y="2076449"/>
            <a:ext cx="209544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1150" y="2102181"/>
            <a:ext cx="400039" cy="3104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95487" y="2038349"/>
            <a:ext cx="145728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F2937"/>
                </a:solidFill>
                <a:latin typeface="Poppins"/>
              </a:rPr>
              <a:t>Choose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150" y="2609850"/>
            <a:ext cx="396230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</a:rPr>
              <a:t>Select number of neighbors to consider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243" y="1943100"/>
            <a:ext cx="1066773" cy="1066799"/>
          </a:xfrm>
          <a:prstGeom prst="roundRect">
            <a:avLst>
              <a:gd name="adj" fmla="val 1785535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234" y="2076449"/>
            <a:ext cx="304792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9809" y="1997548"/>
            <a:ext cx="400039" cy="2149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4146" y="1876424"/>
            <a:ext cx="298125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F2937"/>
                </a:solidFill>
                <a:latin typeface="Poppins"/>
              </a:rPr>
              <a:t>Calculate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09" y="2447924"/>
            <a:ext cx="3962300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</a:rPr>
              <a:t>Measure similarity using Euclidean or Manhattan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657725"/>
            <a:ext cx="1066773" cy="1066799"/>
          </a:xfrm>
          <a:prstGeom prst="roundRect">
            <a:avLst>
              <a:gd name="adj" fmla="val 1785535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1050" y="4791075"/>
            <a:ext cx="323841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1150" y="4859171"/>
            <a:ext cx="400039" cy="24480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95487" y="4752974"/>
            <a:ext cx="2628834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F2937"/>
                </a:solidFill>
                <a:latin typeface="Poppins"/>
              </a:rPr>
              <a:t>Find K Neighbors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1150" y="5324474"/>
            <a:ext cx="396230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</a:rPr>
              <a:t>Identify the K closest data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243" y="4657725"/>
            <a:ext cx="1066773" cy="1066799"/>
          </a:xfrm>
          <a:prstGeom prst="roundRect">
            <a:avLst>
              <a:gd name="adj" fmla="val 1785535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91135" y="4791075"/>
            <a:ext cx="371465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9809" y="4659004"/>
            <a:ext cx="400039" cy="34034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34146" y="4600575"/>
            <a:ext cx="2514537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F2937"/>
                </a:solidFill>
                <a:latin typeface="Poppins"/>
              </a:rPr>
              <a:t>Vote or Average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9" y="5172075"/>
            <a:ext cx="3962300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</a:rPr>
              <a:t>Majority vote for classification, average for regression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27651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Poppins"/>
              </a:rPr>
              <a:t>Distance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99059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4337" y="1102829"/>
            <a:ext cx="266693" cy="1565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476" y="952499"/>
            <a:ext cx="1543011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F2937"/>
                </a:solidFill>
                <a:latin typeface="Poppins"/>
              </a:rPr>
              <a:t>Euclidean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75" y="1562100"/>
            <a:ext cx="46480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0">
                <a:solidFill>
                  <a:srgbClr val="4B5563"/>
                </a:solidFill>
                <a:latin typeface="Inter"/>
              </a:rPr>
              <a:t>Straight line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0575" y="1981199"/>
            <a:ext cx="4648083" cy="165735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8219" y="2228850"/>
            <a:ext cx="206687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Inter"/>
              </a:rPr>
              <a:t>Point A(3,4), B(6,8)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19" y="2971800"/>
            <a:ext cx="116202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4B5563"/>
                </a:solidFill>
                <a:latin typeface="Inter"/>
              </a:rPr>
              <a:t>Distance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636" y="2647949"/>
            <a:ext cx="809604" cy="742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5070"/>
              </a:lnSpc>
              <a:spcBef>
                <a:spcPts val="0"/>
              </a:spcBef>
              <a:spcAft>
                <a:spcPts val="0"/>
              </a:spcAft>
            </a:pPr>
            <a:r>
              <a:rPr sz="3109" b="1">
                <a:solidFill>
                  <a:srgbClr val="1399FF"/>
                </a:solidFill>
                <a:latin typeface="Poppins"/>
              </a:rPr>
              <a:t>5.0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4637" y="2914650"/>
            <a:ext cx="67625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4B5563"/>
                </a:solidFill>
                <a:latin typeface="Inter"/>
              </a:rPr>
              <a:t>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188" y="40576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37" y="4135092"/>
            <a:ext cx="266693" cy="2261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4019549"/>
            <a:ext cx="176208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F2937"/>
                </a:solidFill>
                <a:latin typeface="Poppins"/>
              </a:rPr>
              <a:t>Manhattan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75" y="4629150"/>
            <a:ext cx="46480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0">
                <a:solidFill>
                  <a:srgbClr val="4B5563"/>
                </a:solidFill>
                <a:latin typeface="Inter"/>
              </a:rPr>
              <a:t>Grid path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0575" y="5048250"/>
            <a:ext cx="4648083" cy="1657350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8219" y="5295899"/>
            <a:ext cx="206687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Inter"/>
              </a:rPr>
              <a:t>Point A(3,4), B(6,8)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19" y="6038849"/>
            <a:ext cx="116202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4B5563"/>
                </a:solidFill>
                <a:latin typeface="Inter"/>
              </a:rPr>
              <a:t>Distance 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2636" y="5715000"/>
            <a:ext cx="742931" cy="742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5070"/>
              </a:lnSpc>
              <a:spcBef>
                <a:spcPts val="0"/>
              </a:spcBef>
              <a:spcAft>
                <a:spcPts val="0"/>
              </a:spcAft>
            </a:pPr>
            <a:r>
              <a:rPr sz="3109" b="1">
                <a:solidFill>
                  <a:srgbClr val="44B54B"/>
                </a:solidFill>
                <a:latin typeface="Poppins"/>
              </a:rPr>
              <a:t>7.0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439" y="5981699"/>
            <a:ext cx="67625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4B5563"/>
                </a:solidFill>
                <a:latin typeface="Inter"/>
              </a:rPr>
              <a:t>units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3036" y="1257300"/>
            <a:ext cx="5181470" cy="5143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287647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Poppins"/>
              </a:rPr>
              <a:t>KNN Equations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200150"/>
            <a:ext cx="6248243" cy="1523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129" y="1470577"/>
            <a:ext cx="266693" cy="144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409699"/>
            <a:ext cx="178113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</a:rPr>
              <a:t>Euclidean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9129" y="1790700"/>
            <a:ext cx="5829154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050" y="1952624"/>
            <a:ext cx="550531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Roboto Mono"/>
              </a:rPr>
              <a:t>d(x, y) = √[Σ(xᵢ - yᵢ)²]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2914650"/>
            <a:ext cx="6248243" cy="1523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0FDF4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3144492"/>
            <a:ext cx="266693" cy="2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20" y="3124200"/>
            <a:ext cx="186685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</a:rPr>
              <a:t>Manhattan Distance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129" y="3505199"/>
            <a:ext cx="5829154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8255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050" y="3667124"/>
            <a:ext cx="550531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Roboto Mono"/>
              </a:rPr>
              <a:t>d(x, y) = Σ|xᵢ - yᵢ|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629150"/>
            <a:ext cx="6248243" cy="1838324"/>
          </a:xfrm>
          <a:prstGeom prst="roundRect">
            <a:avLst>
              <a:gd name="adj" fmla="val 16580"/>
            </a:avLst>
          </a:prstGeom>
          <a:gradFill rotWithShape="1">
            <a:gsLst>
              <a:gs pos="0">
                <a:srgbClr val="FAF5FF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29" y="4858992"/>
            <a:ext cx="266693" cy="2261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2020" y="4838699"/>
            <a:ext cx="140966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</a:rPr>
              <a:t>Voting Formula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29" y="5219700"/>
            <a:ext cx="5829154" cy="1038224"/>
          </a:xfrm>
          <a:prstGeom prst="roundRect">
            <a:avLst>
              <a:gd name="adj" fmla="val 22018"/>
            </a:avLst>
          </a:prstGeom>
          <a:solidFill>
            <a:srgbClr val="FFFFFF"/>
          </a:solidFill>
          <a:ln w="8255">
            <a:solidFill>
              <a:srgbClr val="F3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1050" y="5381624"/>
            <a:ext cx="550531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Roboto Mono"/>
              </a:rPr>
              <a:t>ĉ(x) = mode{c₁, c₂, ..., cₖ}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50" y="5829300"/>
            <a:ext cx="550531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Inter"/>
              </a:rPr>
              <a:t>where cᵢ = class labels of K neighbors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9809" y="1114425"/>
            <a:ext cx="3962300" cy="5438774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FFF7ED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43651" y="105600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38899" y="1181927"/>
            <a:ext cx="266693" cy="20872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30755" y="1028698"/>
            <a:ext cx="2533586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 dirty="0">
                <a:solidFill>
                  <a:srgbClr val="1F2937"/>
                </a:solidFill>
                <a:latin typeface="Poppins"/>
              </a:rPr>
              <a:t>Voting Example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43651" y="1581149"/>
            <a:ext cx="3314617" cy="17716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43671" y="1771650"/>
            <a:ext cx="291457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4B5563"/>
                </a:solidFill>
                <a:latin typeface="Inter"/>
              </a:rPr>
              <a:t>Given K =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0364" y="21526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5612" y="2286000"/>
            <a:ext cx="40956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Mono"/>
              </a:rPr>
              <a:t>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0364" y="2838450"/>
            <a:ext cx="67625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</a:rPr>
              <a:t>Neighbor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9019" y="21526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34266" y="2286000"/>
            <a:ext cx="40956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Mono"/>
              </a:rPr>
              <a:t>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019" y="2838450"/>
            <a:ext cx="7048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</a:rPr>
              <a:t>Neighbor 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6722" y="21526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24821" y="2286000"/>
            <a:ext cx="55243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Mono"/>
              </a:rPr>
              <a:t>BLUE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6722" y="2838450"/>
            <a:ext cx="7048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</a:rPr>
              <a:t>Neighbor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43651" y="3543300"/>
            <a:ext cx="3314617" cy="1733550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43671" y="3733799"/>
            <a:ext cx="291457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4B5563"/>
                </a:solidFill>
                <a:latin typeface="Inter"/>
              </a:rPr>
              <a:t>Count Neighbors: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6087" y="4114800"/>
            <a:ext cx="342891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DC2626"/>
                </a:solidFill>
                <a:latin typeface="Roboto Mono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96087" y="4800600"/>
            <a:ext cx="34289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</a:rPr>
              <a:t>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43811" y="4286250"/>
            <a:ext cx="9524" cy="6096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67693" y="4114800"/>
            <a:ext cx="438139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2563EB"/>
                </a:solidFill>
                <a:latin typeface="Roboto Mono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7693" y="4800600"/>
            <a:ext cx="4381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563EB"/>
                </a:solidFill>
                <a:latin typeface="Inter"/>
              </a:rPr>
              <a:t>BLUE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43651" y="5467349"/>
            <a:ext cx="3314617" cy="1314450"/>
          </a:xfrm>
          <a:prstGeom prst="roundRect">
            <a:avLst>
              <a:gd name="adj" fmla="val 17391"/>
            </a:avLst>
          </a:prstGeom>
          <a:solidFill>
            <a:srgbClr val="FFEDD5"/>
          </a:solidFill>
          <a:ln w="1651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53196" y="5829300"/>
            <a:ext cx="182875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74151"/>
                </a:solidFill>
                <a:latin typeface="Inter"/>
              </a:rPr>
              <a:t>Mode =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3196" y="6134100"/>
            <a:ext cx="182875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65100"/>
                </a:solidFill>
                <a:latin typeface="Roboto Mono"/>
              </a:rPr>
              <a:t>{RED, RED, BLUE}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15337" y="5719329"/>
            <a:ext cx="533386" cy="44854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515337" y="6305550"/>
            <a:ext cx="53338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196" b="1">
                <a:solidFill>
                  <a:srgbClr val="E65100"/>
                </a:solidFill>
                <a:latin typeface="Poppins"/>
              </a:rPr>
              <a:t>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43843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Poppins"/>
              </a:rPr>
              <a:t>Choosing K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733550"/>
            <a:ext cx="3457488" cy="2819399"/>
          </a:xfrm>
          <a:prstGeom prst="roundRect">
            <a:avLst>
              <a:gd name="adj" fmla="val 10810"/>
            </a:avLst>
          </a:prstGeom>
          <a:solidFill>
            <a:srgbClr val="FEF2F2"/>
          </a:solidFill>
          <a:ln w="1651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7228" y="1981199"/>
            <a:ext cx="809604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F2937"/>
                </a:solidFill>
                <a:latin typeface="Poppins"/>
              </a:rPr>
              <a:t>K=1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8439" y="2170807"/>
            <a:ext cx="380990" cy="3065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28" y="2857500"/>
            <a:ext cx="29622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DC2626"/>
                </a:solidFill>
                <a:latin typeface="Inter"/>
              </a:rPr>
              <a:t>Too Sensitive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3348317"/>
            <a:ext cx="190495" cy="1232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3921" y="3276599"/>
            <a:ext cx="133346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</a:rPr>
              <a:t>Overfits to noise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3729317"/>
            <a:ext cx="190495" cy="123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3921" y="3657600"/>
            <a:ext cx="111439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</a:rPr>
              <a:t>High variance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4110317"/>
            <a:ext cx="190495" cy="123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3921" y="4038599"/>
            <a:ext cx="167635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</a:rPr>
              <a:t>Unstable boundaries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1865" y="1733550"/>
            <a:ext cx="3457488" cy="2819399"/>
          </a:xfrm>
          <a:prstGeom prst="roundRect">
            <a:avLst>
              <a:gd name="adj" fmla="val 10810"/>
            </a:avLst>
          </a:prstGeom>
          <a:solidFill>
            <a:srgbClr val="F0FDF4"/>
          </a:solidFill>
          <a:ln w="1651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9509" y="1981199"/>
            <a:ext cx="933426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F2937"/>
                </a:solidFill>
                <a:latin typeface="Poppins"/>
              </a:rPr>
              <a:t>K=5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1195" y="2163365"/>
            <a:ext cx="380990" cy="3214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19509" y="2857500"/>
            <a:ext cx="29622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44B54B"/>
                </a:solidFill>
                <a:latin typeface="Inter"/>
              </a:rPr>
              <a:t>Good Balance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9509" y="3349718"/>
            <a:ext cx="190495" cy="12046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86202" y="3276599"/>
            <a:ext cx="125726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</a:rPr>
              <a:t>Robust to noise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9509" y="3730718"/>
            <a:ext cx="190495" cy="12046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86202" y="3657600"/>
            <a:ext cx="158111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</a:rPr>
              <a:t>Smooth boundaries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9509" y="4111718"/>
            <a:ext cx="190495" cy="12046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86202" y="4038599"/>
            <a:ext cx="162873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</a:rPr>
              <a:t>Good generalization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4621" y="1733550"/>
            <a:ext cx="3457488" cy="2819399"/>
          </a:xfrm>
          <a:prstGeom prst="roundRect">
            <a:avLst>
              <a:gd name="adj" fmla="val 10810"/>
            </a:avLst>
          </a:prstGeom>
          <a:solidFill>
            <a:srgbClr val="EFF6FF"/>
          </a:soli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72265" y="1981199"/>
            <a:ext cx="1114397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F2937"/>
                </a:solidFill>
                <a:latin typeface="Poppins"/>
              </a:rPr>
              <a:t>K=15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53476" y="2222896"/>
            <a:ext cx="380990" cy="20240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72265" y="2857500"/>
            <a:ext cx="29622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1399FF"/>
                </a:solidFill>
                <a:latin typeface="Inter"/>
              </a:rPr>
              <a:t>Oversmooths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72265" y="3348317"/>
            <a:ext cx="190495" cy="1232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38959" y="3276599"/>
            <a:ext cx="115249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</a:rPr>
              <a:t>Underfits data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72265" y="3729317"/>
            <a:ext cx="190495" cy="1232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38959" y="3657600"/>
            <a:ext cx="75245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</a:rPr>
              <a:t>High bias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72265" y="4110317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38959" y="4038599"/>
            <a:ext cx="171445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</a:rPr>
              <a:t>Misses local patterns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584" y="4933950"/>
            <a:ext cx="5333866" cy="1009649"/>
          </a:xfrm>
          <a:prstGeom prst="roundRect">
            <a:avLst>
              <a:gd name="adj" fmla="val 22641"/>
            </a:avLst>
          </a:prstGeom>
          <a:gradFill rotWithShape="1">
            <a:gsLst>
              <a:gs pos="0">
                <a:srgbClr val="F0FDF4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170800" y="5372734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8179" y="5269624"/>
            <a:ext cx="342891" cy="31925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95367" y="5124449"/>
            <a:ext cx="207639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4B5563"/>
                </a:solidFill>
                <a:latin typeface="Inter"/>
              </a:rPr>
              <a:t>Example Dataset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5367" y="5353049"/>
            <a:ext cx="207639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100 Data Points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243" y="4933950"/>
            <a:ext cx="5333866" cy="1009649"/>
          </a:xfrm>
          <a:prstGeom prst="roundRect">
            <a:avLst>
              <a:gd name="adj" fmla="val 22641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809459" y="5372734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76838" y="5250902"/>
            <a:ext cx="342891" cy="24239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934026" y="5124449"/>
            <a:ext cx="276218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4B5563"/>
                </a:solidFill>
                <a:latin typeface="Inter"/>
              </a:rPr>
              <a:t>Selection 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4026" y="5353049"/>
            <a:ext cx="276218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</a:rPr>
              <a:t>Odd Numbers + Cross-Validation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2647883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Poppins"/>
              </a:rPr>
              <a:t>KNN in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009649"/>
            <a:ext cx="5181470" cy="1752599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030" y="1649015"/>
            <a:ext cx="380990" cy="3214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6318" y="1333500"/>
            <a:ext cx="125726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B5563"/>
                </a:solidFill>
                <a:latin typeface="Inter"/>
              </a:rPr>
              <a:t>Test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18" y="1600200"/>
            <a:ext cx="1257268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F2937"/>
                </a:solidFill>
                <a:latin typeface="Poppins"/>
              </a:rPr>
              <a:t>(5, 5)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188" y="2990849"/>
            <a:ext cx="5181470" cy="1123949"/>
          </a:xfrm>
          <a:prstGeom prst="roundRect">
            <a:avLst>
              <a:gd name="adj" fmla="val 2033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-38746" y="3486783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7683" y="33147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8654" y="3371850"/>
            <a:ext cx="9524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268" y="3143250"/>
            <a:ext cx="422899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374151"/>
                </a:solidFill>
                <a:latin typeface="Inter"/>
              </a:rPr>
              <a:t>Point (4,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268" y="3448049"/>
            <a:ext cx="4228994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DC2626"/>
                </a:solidFill>
                <a:latin typeface="Poppins"/>
              </a:rPr>
              <a:t>1.41 </a:t>
            </a:r>
            <a:r>
              <a:rPr sz="1435" b="1">
                <a:solidFill>
                  <a:srgbClr val="DC2626"/>
                </a:solidFill>
                <a:latin typeface="Poppins"/>
              </a:rPr>
              <a:t>[RED]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188" y="4267199"/>
            <a:ext cx="5181470" cy="1123949"/>
          </a:xfrm>
          <a:prstGeom prst="roundRect">
            <a:avLst>
              <a:gd name="adj" fmla="val 2033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-38746" y="4763133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7683" y="45910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604" y="4648200"/>
            <a:ext cx="13334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268" y="4419600"/>
            <a:ext cx="422899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374151"/>
                </a:solidFill>
                <a:latin typeface="Inter"/>
              </a:rPr>
              <a:t>Point (6, 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268" y="4724399"/>
            <a:ext cx="4228994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DC2626"/>
                </a:solidFill>
                <a:latin typeface="Poppins"/>
              </a:rPr>
              <a:t>1.41 </a:t>
            </a:r>
            <a:r>
              <a:rPr sz="1435" b="1">
                <a:solidFill>
                  <a:srgbClr val="DC2626"/>
                </a:solidFill>
                <a:latin typeface="Poppins"/>
              </a:rPr>
              <a:t>[RED]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188" y="5543550"/>
            <a:ext cx="5181470" cy="1123949"/>
          </a:xfrm>
          <a:prstGeom prst="roundRect">
            <a:avLst>
              <a:gd name="adj" fmla="val 20338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38746" y="6039484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7683" y="58673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9604" y="5924549"/>
            <a:ext cx="14287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268" y="5695949"/>
            <a:ext cx="422899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374151"/>
                </a:solidFill>
                <a:latin typeface="Inter"/>
              </a:rPr>
              <a:t>Point (4, 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7268" y="6000750"/>
            <a:ext cx="4228994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399FF"/>
                </a:solidFill>
                <a:latin typeface="Poppins"/>
              </a:rPr>
              <a:t>2.24 </a:t>
            </a:r>
            <a:r>
              <a:rPr sz="1435" b="1">
                <a:solidFill>
                  <a:srgbClr val="1399FF"/>
                </a:solidFill>
                <a:latin typeface="Poppins"/>
              </a:rPr>
              <a:t>[BLUE]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3036" y="1314450"/>
            <a:ext cx="5181470" cy="2581275"/>
          </a:xfrm>
          <a:prstGeom prst="roundRect">
            <a:avLst>
              <a:gd name="adj" fmla="val 11808"/>
            </a:avLst>
          </a:prstGeom>
          <a:gradFill rotWithShape="1">
            <a:gsLst>
              <a:gs pos="0">
                <a:srgbClr val="EF4444"/>
              </a:gs>
              <a:gs pos="100000">
                <a:srgbClr val="DC2626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7828" y="1619250"/>
            <a:ext cx="1085822" cy="6000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FFFFFF"/>
                </a:solidFill>
                <a:latin typeface="Poppins"/>
              </a:rPr>
              <a:t>VOTE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25" y="1731544"/>
            <a:ext cx="457188" cy="3850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48363" y="2381250"/>
            <a:ext cx="457188" cy="914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8363" y="3295650"/>
            <a:ext cx="45718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</a:rPr>
              <a:t>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67573" y="2609850"/>
            <a:ext cx="9524" cy="761999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58168" y="2381250"/>
            <a:ext cx="590535" cy="914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8168" y="3295650"/>
            <a:ext cx="59053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</a:rPr>
              <a:t>BLUE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53036" y="4133849"/>
            <a:ext cx="5181470" cy="2219324"/>
          </a:xfrm>
          <a:prstGeom prst="roundRect">
            <a:avLst>
              <a:gd name="adj" fmla="val 13733"/>
            </a:avLst>
          </a:prstGeom>
          <a:gradFill rotWithShape="1">
            <a:gsLst>
              <a:gs pos="0">
                <a:srgbClr val="22C55E"/>
              </a:gs>
              <a:gs pos="100000">
                <a:srgbClr val="16A34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7828" y="4532396"/>
            <a:ext cx="457188" cy="40305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67413" y="4438649"/>
            <a:ext cx="2476438" cy="6000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FFFFFF"/>
                </a:solidFill>
                <a:latin typeface="Poppins"/>
              </a:rPr>
              <a:t>PREDICTION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7828" y="5181599"/>
            <a:ext cx="4571885" cy="857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4305" b="1">
                <a:solidFill>
                  <a:srgbClr val="FFFFFF"/>
                </a:solidFill>
                <a:latin typeface="Poppins"/>
              </a:rPr>
              <a:t>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483857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Poppins"/>
              </a:rPr>
              <a:t>SVM vs KNN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71600"/>
            <a:ext cx="5295767" cy="3028950"/>
          </a:xfrm>
          <a:prstGeom prst="roundRect">
            <a:avLst>
              <a:gd name="adj" fmla="val 10062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95327" y="165735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9624" y="1815611"/>
            <a:ext cx="304792" cy="2168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3011" y="1676400"/>
            <a:ext cx="800079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F2937"/>
                </a:solidFill>
                <a:latin typeface="Poppins"/>
              </a:rPr>
              <a:t>SVM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2474595"/>
            <a:ext cx="228594" cy="194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8219" y="2419349"/>
            <a:ext cx="388610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Inter"/>
              </a:rPr>
              <a:t>Complex boundaries with maximum margin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327" y="2957036"/>
            <a:ext cx="228594" cy="1628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8219" y="2886075"/>
            <a:ext cx="271455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Inter"/>
              </a:rPr>
              <a:t>Faster prediction after training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327" y="3408045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8219" y="3352800"/>
            <a:ext cx="211449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Inter"/>
              </a:rPr>
              <a:t>Slower training process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5327" y="3868102"/>
            <a:ext cx="228594" cy="1885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8219" y="3809999"/>
            <a:ext cx="276218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Inter"/>
              </a:rPr>
              <a:t>Best for high-dimensional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342" y="1371600"/>
            <a:ext cx="5295767" cy="3028950"/>
          </a:xfrm>
          <a:prstGeom prst="roundRect">
            <a:avLst>
              <a:gd name="adj" fmla="val 10062"/>
            </a:avLst>
          </a:prstGeom>
          <a:gradFill rotWithShape="1">
            <a:gsLst>
              <a:gs pos="0">
                <a:srgbClr val="F0FDF4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72085" y="165735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86382" y="1841988"/>
            <a:ext cx="304792" cy="1641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19769" y="1676400"/>
            <a:ext cx="790555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F2937"/>
                </a:solidFill>
                <a:latin typeface="Poppins"/>
              </a:rPr>
              <a:t>KNN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72085" y="2474595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14977" y="2419349"/>
            <a:ext cx="285742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Inter"/>
              </a:rPr>
              <a:t>Simple local pattern recognition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72085" y="2957036"/>
            <a:ext cx="228594" cy="16287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14977" y="2886075"/>
            <a:ext cx="359083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Inter"/>
              </a:rPr>
              <a:t>Slower prediction (calculates distances)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72085" y="34080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14977" y="3352800"/>
            <a:ext cx="172398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Inter"/>
              </a:rPr>
              <a:t>No training needed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72085" y="3890962"/>
            <a:ext cx="228594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14977" y="3809999"/>
            <a:ext cx="268598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Inter"/>
              </a:rPr>
              <a:t>Best for low-dimensional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584" y="4705350"/>
            <a:ext cx="10972525" cy="1581149"/>
          </a:xfrm>
          <a:prstGeom prst="roundRect">
            <a:avLst>
              <a:gd name="adj" fmla="val 19277"/>
            </a:avLst>
          </a:prstGeom>
          <a:gradFill rotWithShape="1">
            <a:gsLst>
              <a:gs pos="0">
                <a:srgbClr val="F9FAFB"/>
              </a:gs>
              <a:gs pos="100000">
                <a:srgbClr val="FFFFFF"/>
              </a:gs>
            </a:gsLst>
            <a:lin ang="10800000" scaled="0"/>
          </a:grad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57228" y="5033596"/>
            <a:ext cx="304792" cy="2579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76318" y="4952999"/>
            <a:ext cx="241928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When to Use Each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57228" y="5574982"/>
            <a:ext cx="228594" cy="16573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00119" y="5505450"/>
            <a:ext cx="478143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399FF"/>
                </a:solidFill>
                <a:latin typeface="Inter"/>
              </a:rPr>
              <a:t>SVM:</a:t>
            </a:r>
            <a:r>
              <a:rPr sz="1076" b="0">
                <a:solidFill>
                  <a:srgbClr val="374151"/>
                </a:solidFill>
                <a:latin typeface="Inter"/>
              </a:rPr>
              <a:t> Large datasets, high dimensions, need robust boundaries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210144" y="5574982"/>
            <a:ext cx="228594" cy="16573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53036" y="5505450"/>
            <a:ext cx="478143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4B54B"/>
                </a:solidFill>
                <a:latin typeface="Inter"/>
              </a:rPr>
              <a:t>KNN:</a:t>
            </a:r>
            <a:r>
              <a:rPr sz="1076" b="0">
                <a:solidFill>
                  <a:srgbClr val="374151"/>
                </a:solidFill>
                <a:latin typeface="Inter"/>
              </a:rPr>
              <a:t> Small to medium datasets, low dimensions, interpretable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07649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Poppins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295399"/>
            <a:ext cx="5295767" cy="3028950"/>
          </a:xfrm>
          <a:prstGeom prst="roundRect">
            <a:avLst>
              <a:gd name="adj" fmla="val 10062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33426" y="1619250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66773" y="1802852"/>
            <a:ext cx="342891" cy="2423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57308" y="1647825"/>
            <a:ext cx="847703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705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1F2937"/>
                </a:solidFill>
                <a:latin typeface="Poppins"/>
              </a:rPr>
              <a:t>SVM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2516981"/>
            <a:ext cx="228594" cy="1857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76318" y="2457450"/>
            <a:ext cx="349558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399FF"/>
                </a:solidFill>
                <a:latin typeface="Inter"/>
              </a:rPr>
              <a:t>Maximize the margin</a:t>
            </a:r>
            <a:r>
              <a:rPr sz="1196" b="0">
                <a:solidFill>
                  <a:srgbClr val="374151"/>
                </a:solidFill>
                <a:latin typeface="Inter"/>
              </a:rPr>
              <a:t> between classes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426" y="2958465"/>
            <a:ext cx="228594" cy="2171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6318" y="2914650"/>
            <a:ext cx="323841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399FF"/>
                </a:solidFill>
                <a:latin typeface="Inter"/>
              </a:rPr>
              <a:t>Robust to outliers</a:t>
            </a:r>
            <a:r>
              <a:rPr sz="1196" b="0">
                <a:solidFill>
                  <a:srgbClr val="374151"/>
                </a:solidFill>
                <a:latin typeface="Inter"/>
              </a:rPr>
              <a:t> with soft margins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3427095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6318" y="3371850"/>
            <a:ext cx="4305192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399FF"/>
                </a:solidFill>
                <a:latin typeface="Inter"/>
              </a:rPr>
              <a:t>Best for complex boundaries</a:t>
            </a:r>
            <a:r>
              <a:rPr sz="1196" b="0">
                <a:solidFill>
                  <a:srgbClr val="374151"/>
                </a:solidFill>
                <a:latin typeface="Inter"/>
              </a:rPr>
              <a:t> and high dimensions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342" y="1295399"/>
            <a:ext cx="5295767" cy="3028950"/>
          </a:xfrm>
          <a:prstGeom prst="roundRect">
            <a:avLst>
              <a:gd name="adj" fmla="val 10062"/>
            </a:avLst>
          </a:prstGeom>
          <a:gradFill rotWithShape="1">
            <a:gsLst>
              <a:gs pos="0">
                <a:srgbClr val="F0FDF4"/>
              </a:gs>
              <a:gs pos="100000">
                <a:srgbClr val="FFFFFF"/>
              </a:gs>
            </a:gsLst>
            <a:lin ang="8100000" scaled="0"/>
          </a:gra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10184" y="1619250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3531" y="1832412"/>
            <a:ext cx="342891" cy="1832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34066" y="1647825"/>
            <a:ext cx="838179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705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1F2937"/>
                </a:solidFill>
                <a:latin typeface="Poppins"/>
              </a:rPr>
              <a:t>KNN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0184" y="2538412"/>
            <a:ext cx="228594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53076" y="2457450"/>
            <a:ext cx="374323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4B54B"/>
                </a:solidFill>
                <a:latin typeface="Inter"/>
              </a:rPr>
              <a:t>Learn from neighbors</a:t>
            </a:r>
            <a:r>
              <a:rPr sz="1196" b="0">
                <a:solidFill>
                  <a:srgbClr val="374151"/>
                </a:solidFill>
                <a:latin typeface="Inter"/>
              </a:rPr>
              <a:t> - similarity matters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0184" y="2978467"/>
            <a:ext cx="228594" cy="1771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53076" y="2914650"/>
            <a:ext cx="285742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4B54B"/>
                </a:solidFill>
                <a:latin typeface="Inter"/>
              </a:rPr>
              <a:t>Adapts to patterns</a:t>
            </a:r>
            <a:r>
              <a:rPr sz="1196" b="0">
                <a:solidFill>
                  <a:srgbClr val="374151"/>
                </a:solidFill>
                <a:latin typeface="Inter"/>
              </a:rPr>
              <a:t> in local data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10184" y="3435667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53076" y="3371850"/>
            <a:ext cx="400039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4B54B"/>
                </a:solidFill>
                <a:latin typeface="Inter"/>
              </a:rPr>
              <a:t>No training needed</a:t>
            </a:r>
            <a:r>
              <a:rPr sz="1196" b="0">
                <a:solidFill>
                  <a:srgbClr val="374151"/>
                </a:solidFill>
                <a:latin typeface="Inter"/>
              </a:rPr>
              <a:t> - instant implementation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4629150"/>
            <a:ext cx="10972525" cy="1752599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6366F1"/>
              </a:gs>
              <a:gs pos="100000">
                <a:srgbClr val="9333EA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14377" y="5302417"/>
            <a:ext cx="457188" cy="40606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23961" y="5067299"/>
            <a:ext cx="690545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</a:rPr>
              <a:t>Both Algorithms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3961" y="5372100"/>
            <a:ext cx="6905452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</a:rPr>
              <a:t>Powerful Classification Tools • Choose Based on Data Complexity &amp;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9414" y="4933950"/>
            <a:ext cx="2847903" cy="11430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  <a:latin typeface="Inter"/>
              </a:rPr>
              <a:t>SVM + KNN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711</Words>
  <Application>Microsoft Office PowerPoint</Application>
  <PresentationFormat>Widescreen</PresentationFormat>
  <Paragraphs>198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Inter</vt:lpstr>
      <vt:lpstr>Poppins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Métwalli</cp:lastModifiedBy>
  <cp:revision>3</cp:revision>
  <dcterms:created xsi:type="dcterms:W3CDTF">2013-01-27T09:14:16Z</dcterms:created>
  <dcterms:modified xsi:type="dcterms:W3CDTF">2026-03-03T22:43:14Z</dcterms:modified>
  <cp:category/>
</cp:coreProperties>
</file>