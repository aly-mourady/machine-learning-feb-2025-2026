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D4C261A-6D3D-4765-8A37-BBCFCCD48F91}"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4C261A-6D3D-4765-8A37-BBCFCCD48F91}"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D4C261A-6D3D-4765-8A37-BBCFCCD48F91}"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D4C261A-6D3D-4765-8A37-BBCFCCD48F91}"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D4C261A-6D3D-4765-8A37-BBCFCCD48F91}" type="datetimeFigureOut">
              <a:rPr lang="en-US" smtClean="0"/>
              <a:pPr/>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D4C261A-6D3D-4765-8A37-BBCFCCD48F91}" type="datetimeFigureOut">
              <a:rPr lang="en-US" smtClean="0"/>
              <a:pPr/>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C261A-6D3D-4765-8A37-BBCFCCD48F91}" type="datetimeFigureOut">
              <a:rPr lang="en-US" smtClean="0"/>
              <a:pPr/>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4C261A-6D3D-4765-8A37-BBCFCCD48F91}"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4C261A-6D3D-4765-8A37-BBCFCCD48F91}"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4C261A-6D3D-4765-8A37-BBCFCCD48F91}"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4C261A-6D3D-4765-8A37-BBCFCCD48F91}"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FDC35-306A-4D60-8E83-8392DDD98C3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C261A-6D3D-4765-8A37-BBCFCCD48F91}" type="datetimeFigureOut">
              <a:rPr lang="en-US" smtClean="0"/>
              <a:pPr/>
              <a:t>12/2/2024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4FDC35-306A-4D60-8E83-8392DDD98C3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eeksforgeeks.org/supervised-unsupervised-learn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separating-hyperplanes-in-sv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data-mining" TargetMode="External"/><Relationship Id="rId2" Type="http://schemas.openxmlformats.org/officeDocument/2006/relationships/hyperlink" Target="https://www.geeksforgeeks.org/supervised-unsupervised-learning" TargetMode="External"/><Relationship Id="rId1" Type="http://schemas.openxmlformats.org/officeDocument/2006/relationships/slideLayout" Target="../slideLayouts/slideLayout2.xml"/><Relationship Id="rId4" Type="http://schemas.openxmlformats.org/officeDocument/2006/relationships/hyperlink" Target="https://www.geeksforgeeks.org/mathematics-probability-distributions-set-3-normal-distribution"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geeksforgeeks.org/calculate-the-euclidean-distance-using-nump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geeksforgeeks.org/how-to-calculate-manhattan-distance-in-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cross-validation-machine-learnin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Support Vector Machine (SVM) Algorithm &amp; K-Nearest </a:t>
            </a:r>
            <a:r>
              <a:rPr lang="en-US" b="1" dirty="0" smtClean="0"/>
              <a:t>Neighbor (</a:t>
            </a:r>
            <a:r>
              <a:rPr lang="en-US" b="1" dirty="0" smtClean="0"/>
              <a:t>KNN) Algorithm</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Support Vector Machine (SVM) Algorithm</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 </a:t>
            </a:r>
            <a:r>
              <a:rPr lang="en-US" b="1" dirty="0" smtClean="0"/>
              <a:t>Support Vector Machine (SVM)</a:t>
            </a:r>
            <a:r>
              <a:rPr lang="en-US" dirty="0" smtClean="0"/>
              <a:t> is a </a:t>
            </a:r>
            <a:r>
              <a:rPr lang="en-US" u="sng" dirty="0" smtClean="0">
                <a:hlinkClick r:id="rId2"/>
              </a:rPr>
              <a:t>supervised machine learning</a:t>
            </a:r>
            <a:r>
              <a:rPr lang="en-US" b="1" dirty="0" smtClean="0"/>
              <a:t> algorithm</a:t>
            </a:r>
            <a:r>
              <a:rPr lang="en-US" dirty="0" smtClean="0"/>
              <a:t> used for both </a:t>
            </a:r>
            <a:r>
              <a:rPr lang="en-US" b="1" dirty="0" smtClean="0"/>
              <a:t>classification</a:t>
            </a:r>
            <a:r>
              <a:rPr lang="en-US" dirty="0" smtClean="0"/>
              <a:t> and </a:t>
            </a:r>
            <a:r>
              <a:rPr lang="en-US" b="1" dirty="0" smtClean="0"/>
              <a:t>regression</a:t>
            </a:r>
            <a:r>
              <a:rPr lang="en-US" dirty="0" smtClean="0"/>
              <a:t> tasks. </a:t>
            </a:r>
          </a:p>
          <a:p>
            <a:r>
              <a:rPr lang="en-US" dirty="0" smtClean="0"/>
              <a:t>While it can be applied to regression problems, SVM is best suited for </a:t>
            </a:r>
            <a:r>
              <a:rPr lang="en-US" b="1" dirty="0" smtClean="0"/>
              <a:t>classification</a:t>
            </a:r>
            <a:r>
              <a:rPr lang="en-US" dirty="0" smtClean="0"/>
              <a:t> tasks. </a:t>
            </a:r>
          </a:p>
          <a:p>
            <a:r>
              <a:rPr lang="en-US" dirty="0" smtClean="0"/>
              <a:t>The primary objective of the </a:t>
            </a:r>
            <a:r>
              <a:rPr lang="en-US" b="1" dirty="0" smtClean="0"/>
              <a:t>SVM algorithm</a:t>
            </a:r>
            <a:r>
              <a:rPr lang="en-US" dirty="0" smtClean="0"/>
              <a:t> is to identify the </a:t>
            </a:r>
            <a:r>
              <a:rPr lang="en-US" b="1" dirty="0" smtClean="0"/>
              <a:t>optimal </a:t>
            </a:r>
            <a:r>
              <a:rPr lang="en-US" b="1" dirty="0" err="1" smtClean="0"/>
              <a:t>hyperplane</a:t>
            </a:r>
            <a:r>
              <a:rPr lang="en-US" dirty="0" smtClean="0"/>
              <a:t> in an N-dimensional space that can effectively separate data points into different classes in the feature space. </a:t>
            </a:r>
          </a:p>
          <a:p>
            <a:r>
              <a:rPr lang="en-US" dirty="0" smtClean="0"/>
              <a:t>The algorithm ensures that the margin between the closest points of different classes, known as </a:t>
            </a:r>
            <a:r>
              <a:rPr lang="en-US" b="1" dirty="0" smtClean="0"/>
              <a:t>support vectors</a:t>
            </a:r>
            <a:r>
              <a:rPr lang="en-US" dirty="0" smtClean="0"/>
              <a:t>, is maximized.</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fontAlgn="base"/>
            <a:r>
              <a:rPr lang="en-US" dirty="0" smtClean="0"/>
              <a:t>The dimension of the </a:t>
            </a:r>
            <a:r>
              <a:rPr lang="en-US" u="sng" dirty="0" err="1" smtClean="0">
                <a:hlinkClick r:id="rId2"/>
              </a:rPr>
              <a:t>hyperplane</a:t>
            </a:r>
            <a:r>
              <a:rPr lang="en-US" dirty="0" smtClean="0"/>
              <a:t> depends on the number of features. For instance, if there are two input features, the </a:t>
            </a:r>
            <a:r>
              <a:rPr lang="en-US" dirty="0" err="1" smtClean="0"/>
              <a:t>hyperplane</a:t>
            </a:r>
            <a:r>
              <a:rPr lang="en-US" dirty="0" smtClean="0"/>
              <a:t> is simply a line, and if there are three input features, the </a:t>
            </a:r>
            <a:r>
              <a:rPr lang="en-US" dirty="0" err="1" smtClean="0"/>
              <a:t>hyperplane</a:t>
            </a:r>
            <a:r>
              <a:rPr lang="en-US" dirty="0" smtClean="0"/>
              <a:t> becomes a 2-D plane. As the number of features increases beyond three, the complexity of visualizing the </a:t>
            </a:r>
            <a:r>
              <a:rPr lang="en-US" dirty="0" err="1" smtClean="0"/>
              <a:t>hyperplane</a:t>
            </a:r>
            <a:r>
              <a:rPr lang="en-US" dirty="0" smtClean="0"/>
              <a:t> also increases.</a:t>
            </a:r>
          </a:p>
          <a:p>
            <a:pPr fontAlgn="base">
              <a:buNone/>
            </a:pPr>
            <a:r>
              <a:rPr lang="en-US" dirty="0" smtClean="0"/>
              <a:t/>
            </a:r>
            <a:br>
              <a:rPr lang="en-US" dirty="0" smtClean="0"/>
            </a:b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fontScale="92500"/>
          </a:bodyPr>
          <a:lstStyle/>
          <a:p>
            <a:pPr fontAlgn="base"/>
            <a:r>
              <a:rPr lang="en-US" dirty="0" smtClean="0"/>
              <a:t>Consider two independent variables, </a:t>
            </a:r>
            <a:r>
              <a:rPr lang="en-US" b="1" dirty="0" smtClean="0"/>
              <a:t>x1</a:t>
            </a:r>
            <a:r>
              <a:rPr lang="en-US" dirty="0" smtClean="0"/>
              <a:t> and </a:t>
            </a:r>
            <a:r>
              <a:rPr lang="en-US" b="1" dirty="0" smtClean="0"/>
              <a:t>x2</a:t>
            </a:r>
            <a:r>
              <a:rPr lang="en-US" dirty="0" smtClean="0"/>
              <a:t>, and one dependent variable represented as either a blue circle or a red circle.</a:t>
            </a:r>
          </a:p>
          <a:p>
            <a:pPr fontAlgn="base"/>
            <a:r>
              <a:rPr lang="en-US" dirty="0" smtClean="0"/>
              <a:t>In this scenario, the </a:t>
            </a:r>
            <a:r>
              <a:rPr lang="en-US" dirty="0" err="1" smtClean="0"/>
              <a:t>hyperplane</a:t>
            </a:r>
            <a:r>
              <a:rPr lang="en-US" dirty="0" smtClean="0"/>
              <a:t> is a line because we are working with two features (</a:t>
            </a:r>
            <a:r>
              <a:rPr lang="en-US" b="1" dirty="0" smtClean="0"/>
              <a:t>x1</a:t>
            </a:r>
            <a:r>
              <a:rPr lang="en-US" dirty="0" smtClean="0"/>
              <a:t> and </a:t>
            </a:r>
            <a:r>
              <a:rPr lang="en-US" b="1" dirty="0" smtClean="0"/>
              <a:t>x2</a:t>
            </a:r>
            <a:r>
              <a:rPr lang="en-US" dirty="0" smtClean="0"/>
              <a:t>).</a:t>
            </a:r>
          </a:p>
          <a:p>
            <a:pPr fontAlgn="base"/>
            <a:r>
              <a:rPr lang="en-US" dirty="0" smtClean="0"/>
              <a:t>There are multiple lines (or </a:t>
            </a:r>
            <a:r>
              <a:rPr lang="en-US" b="1" dirty="0" err="1" smtClean="0"/>
              <a:t>hyperplanes</a:t>
            </a:r>
            <a:r>
              <a:rPr lang="en-US" dirty="0" smtClean="0"/>
              <a:t>) that can separate the data points.</a:t>
            </a:r>
          </a:p>
          <a:p>
            <a:pPr fontAlgn="base"/>
            <a:r>
              <a:rPr lang="en-US" dirty="0" smtClean="0"/>
              <a:t>The challenge is to determine the </a:t>
            </a:r>
            <a:r>
              <a:rPr lang="en-US" b="1" dirty="0" smtClean="0"/>
              <a:t>best </a:t>
            </a:r>
            <a:r>
              <a:rPr lang="en-US" b="1" dirty="0" err="1" smtClean="0"/>
              <a:t>hyperplane</a:t>
            </a:r>
            <a:r>
              <a:rPr lang="en-US" dirty="0" smtClean="0"/>
              <a:t> that maximizes the separation margin between the red and blue circles.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geeksforgeeks.org/wp-content/uploads/20201211162942/Capture.JPG"/>
          <p:cNvPicPr>
            <a:picLocks noChangeAspect="1" noChangeArrowheads="1"/>
          </p:cNvPicPr>
          <p:nvPr/>
        </p:nvPicPr>
        <p:blipFill>
          <a:blip r:embed="rId2"/>
          <a:srcRect/>
          <a:stretch>
            <a:fillRect/>
          </a:stretch>
        </p:blipFill>
        <p:spPr bwMode="auto">
          <a:xfrm>
            <a:off x="1828799" y="1219200"/>
            <a:ext cx="5653759" cy="5049659"/>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lnSpcReduction="10000"/>
          </a:bodyPr>
          <a:lstStyle/>
          <a:p>
            <a:pPr fontAlgn="base"/>
            <a:r>
              <a:rPr lang="en-US" b="1" dirty="0" smtClean="0"/>
              <a:t>How does Support Vector Machine Algorithm Work?</a:t>
            </a:r>
          </a:p>
          <a:p>
            <a:pPr fontAlgn="base"/>
            <a:r>
              <a:rPr lang="en-US" dirty="0" smtClean="0"/>
              <a:t>One reasonable choice for the </a:t>
            </a:r>
            <a:r>
              <a:rPr lang="en-US" b="1" dirty="0" smtClean="0"/>
              <a:t>best </a:t>
            </a:r>
            <a:r>
              <a:rPr lang="en-US" b="1" dirty="0" err="1" smtClean="0"/>
              <a:t>hyperplane</a:t>
            </a:r>
            <a:r>
              <a:rPr lang="en-US" dirty="0" smtClean="0"/>
              <a:t> in a </a:t>
            </a:r>
            <a:r>
              <a:rPr lang="en-US" b="1" dirty="0" smtClean="0"/>
              <a:t>Support Vector Machine (SVM)</a:t>
            </a:r>
            <a:r>
              <a:rPr lang="en-US" dirty="0" smtClean="0"/>
              <a:t> is the one that maximizes the </a:t>
            </a:r>
            <a:r>
              <a:rPr lang="en-US" b="1" dirty="0" smtClean="0"/>
              <a:t>separation margin</a:t>
            </a:r>
            <a:r>
              <a:rPr lang="en-US" dirty="0" smtClean="0"/>
              <a:t> between the two classes. </a:t>
            </a:r>
          </a:p>
          <a:p>
            <a:pPr fontAlgn="base"/>
            <a:r>
              <a:rPr lang="en-US" dirty="0" smtClean="0"/>
              <a:t>The </a:t>
            </a:r>
            <a:r>
              <a:rPr lang="en-US" b="1" dirty="0" smtClean="0"/>
              <a:t>maximum-margin </a:t>
            </a:r>
            <a:r>
              <a:rPr lang="en-US" b="1" dirty="0" err="1" smtClean="0"/>
              <a:t>hyperplane</a:t>
            </a:r>
            <a:r>
              <a:rPr lang="en-US" dirty="0" smtClean="0"/>
              <a:t>, also referred to as the </a:t>
            </a:r>
            <a:r>
              <a:rPr lang="en-US" b="1" dirty="0" smtClean="0"/>
              <a:t>hard margin</a:t>
            </a:r>
            <a:r>
              <a:rPr lang="en-US" dirty="0" smtClean="0"/>
              <a:t>, is selected based on maximizing the distance between the </a:t>
            </a:r>
            <a:r>
              <a:rPr lang="en-US" dirty="0" err="1" smtClean="0"/>
              <a:t>hyperplane</a:t>
            </a:r>
            <a:r>
              <a:rPr lang="en-US" dirty="0" smtClean="0"/>
              <a:t> and the nearest data point on each side.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descr="Multiple hyperplanes separating the data from two classes"/>
          <p:cNvPicPr>
            <a:picLocks noChangeAspect="1" noChangeArrowheads="1"/>
          </p:cNvPicPr>
          <p:nvPr/>
        </p:nvPicPr>
        <p:blipFill>
          <a:blip r:embed="rId2"/>
          <a:srcRect/>
          <a:stretch>
            <a:fillRect/>
          </a:stretch>
        </p:blipFill>
        <p:spPr bwMode="auto">
          <a:xfrm>
            <a:off x="1905000" y="457200"/>
            <a:ext cx="5105400" cy="4117258"/>
          </a:xfrm>
          <a:prstGeom prst="rect">
            <a:avLst/>
          </a:prstGeom>
          <a:noFill/>
        </p:spPr>
      </p:pic>
      <p:sp>
        <p:nvSpPr>
          <p:cNvPr id="6" name="Content Placeholder 2"/>
          <p:cNvSpPr>
            <a:spLocks noGrp="1"/>
          </p:cNvSpPr>
          <p:nvPr>
            <p:ph idx="1"/>
          </p:nvPr>
        </p:nvSpPr>
        <p:spPr>
          <a:xfrm>
            <a:off x="381000" y="4648200"/>
            <a:ext cx="8229600" cy="1981200"/>
          </a:xfrm>
        </p:spPr>
        <p:txBody>
          <a:bodyPr>
            <a:normAutofit fontScale="85000" lnSpcReduction="20000"/>
          </a:bodyPr>
          <a:lstStyle/>
          <a:p>
            <a:r>
              <a:rPr lang="en-US" dirty="0" smtClean="0"/>
              <a:t>So we choose the </a:t>
            </a:r>
            <a:r>
              <a:rPr lang="en-US" dirty="0" err="1" smtClean="0"/>
              <a:t>hyperplane</a:t>
            </a:r>
            <a:r>
              <a:rPr lang="en-US" dirty="0" smtClean="0"/>
              <a:t> whose distance from it to the nearest data point on each side is maximized. </a:t>
            </a:r>
          </a:p>
          <a:p>
            <a:r>
              <a:rPr lang="en-US" dirty="0" smtClean="0"/>
              <a:t>If such a </a:t>
            </a:r>
            <a:r>
              <a:rPr lang="en-US" dirty="0" err="1" smtClean="0"/>
              <a:t>hyperplane</a:t>
            </a:r>
            <a:r>
              <a:rPr lang="en-US" dirty="0" smtClean="0"/>
              <a:t> exists it is known as the </a:t>
            </a:r>
            <a:r>
              <a:rPr lang="en-US" b="1" dirty="0" smtClean="0"/>
              <a:t>maximum-margin </a:t>
            </a:r>
            <a:r>
              <a:rPr lang="en-US" b="1" dirty="0" err="1" smtClean="0"/>
              <a:t>hyperplane</a:t>
            </a:r>
            <a:r>
              <a:rPr lang="en-US" b="1" dirty="0" smtClean="0"/>
              <a:t>/hard margin</a:t>
            </a:r>
            <a:r>
              <a:rPr lang="en-US" dirty="0" smtClean="0"/>
              <a:t>. So from the above figure, we choose L2.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descr="Lightbox"/>
          <p:cNvPicPr>
            <a:picLocks noChangeAspect="1" noChangeArrowheads="1"/>
          </p:cNvPicPr>
          <p:nvPr/>
        </p:nvPicPr>
        <p:blipFill>
          <a:blip r:embed="rId2"/>
          <a:srcRect/>
          <a:stretch>
            <a:fillRect/>
          </a:stretch>
        </p:blipFill>
        <p:spPr bwMode="auto">
          <a:xfrm>
            <a:off x="1981200" y="2743200"/>
            <a:ext cx="4952999" cy="4114800"/>
          </a:xfrm>
          <a:prstGeom prst="rect">
            <a:avLst/>
          </a:prstGeom>
          <a:noFill/>
        </p:spPr>
      </p:pic>
      <p:sp>
        <p:nvSpPr>
          <p:cNvPr id="5" name="Content Placeholder 4"/>
          <p:cNvSpPr>
            <a:spLocks noGrp="1"/>
          </p:cNvSpPr>
          <p:nvPr>
            <p:ph idx="1"/>
          </p:nvPr>
        </p:nvSpPr>
        <p:spPr>
          <a:xfrm>
            <a:off x="533400" y="152400"/>
            <a:ext cx="8229600" cy="2667000"/>
          </a:xfrm>
        </p:spPr>
        <p:txBody>
          <a:bodyPr>
            <a:normAutofit fontScale="77500" lnSpcReduction="20000"/>
          </a:bodyPr>
          <a:lstStyle/>
          <a:p>
            <a:r>
              <a:rPr lang="en-US" dirty="0" smtClean="0"/>
              <a:t>Let’s consider a scenario like shown below.</a:t>
            </a:r>
          </a:p>
          <a:p>
            <a:r>
              <a:rPr lang="en-US" dirty="0" smtClean="0"/>
              <a:t>Here we have one blue ball in the boundary of the red ball. So how does SVM classify the data? It’s simple! The blue ball in the boundary of red ones is an outlier of blue balls.</a:t>
            </a:r>
          </a:p>
          <a:p>
            <a:r>
              <a:rPr lang="en-US" dirty="0" smtClean="0"/>
              <a:t> The SVM algorithm has the characteristics to ignore the outlier and finds the best </a:t>
            </a:r>
            <a:r>
              <a:rPr lang="en-US" dirty="0" err="1" smtClean="0"/>
              <a:t>hyperplane</a:t>
            </a:r>
            <a:r>
              <a:rPr lang="en-US" dirty="0" smtClean="0"/>
              <a:t> that maximizes the margin. SVM is robust to outliers.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So in this type of data point what SVM does is, finds the maximum margin as done with previous data sets along with that it adds a penalty each time a point crosses the margin. </a:t>
            </a:r>
            <a:r>
              <a:rPr lang="en-US" smtClean="0"/>
              <a:t>So the margins in these types of cases are called </a:t>
            </a:r>
            <a:r>
              <a:rPr lang="en-US" b="1" smtClean="0"/>
              <a:t>soft margins</a:t>
            </a:r>
            <a:r>
              <a:rPr lang="en-US" smtClean="0"/>
              <a: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K-Nearest Neighbor(KNN) Algorithm</a:t>
            </a:r>
            <a:endParaRPr lang="en-US" dirty="0"/>
          </a:p>
        </p:txBody>
      </p:sp>
      <p:sp>
        <p:nvSpPr>
          <p:cNvPr id="3" name="Content Placeholder 2"/>
          <p:cNvSpPr>
            <a:spLocks noGrp="1"/>
          </p:cNvSpPr>
          <p:nvPr>
            <p:ph idx="1"/>
          </p:nvPr>
        </p:nvSpPr>
        <p:spPr/>
        <p:txBody>
          <a:bodyPr>
            <a:normAutofit fontScale="85000" lnSpcReduction="20000"/>
          </a:bodyPr>
          <a:lstStyle/>
          <a:p>
            <a:pPr fontAlgn="base"/>
            <a:r>
              <a:rPr lang="en-US" dirty="0" smtClean="0"/>
              <a:t>KNN is one of the most basic yet essential classification algorithms in machine learning. It belongs to the </a:t>
            </a:r>
            <a:r>
              <a:rPr lang="en-US" u="sng" dirty="0" smtClean="0">
                <a:hlinkClick r:id="rId2"/>
              </a:rPr>
              <a:t>supervised learning</a:t>
            </a:r>
            <a:r>
              <a:rPr lang="en-US" dirty="0" smtClean="0"/>
              <a:t> domain and finds intense application in pattern recognition, </a:t>
            </a:r>
            <a:r>
              <a:rPr lang="en-US" u="sng" dirty="0" smtClean="0">
                <a:hlinkClick r:id="rId3"/>
              </a:rPr>
              <a:t>data mining</a:t>
            </a:r>
            <a:r>
              <a:rPr lang="en-US" dirty="0" smtClean="0"/>
              <a:t>, and intrusion detection.</a:t>
            </a:r>
          </a:p>
          <a:p>
            <a:pPr fontAlgn="base"/>
            <a:r>
              <a:rPr lang="en-US" dirty="0" smtClean="0"/>
              <a:t>It is widely disposable in real-life scenarios since it is non-parametric, meaning it does not make any underlying assumptions about the distribution of data (as opposed to other algorithms such as GMM, which assume a </a:t>
            </a:r>
            <a:r>
              <a:rPr lang="en-US" u="sng" dirty="0" smtClean="0">
                <a:hlinkClick r:id="rId4"/>
              </a:rPr>
              <a:t>Gaussian distribution</a:t>
            </a:r>
            <a:r>
              <a:rPr lang="en-US" dirty="0" smtClean="0"/>
              <a:t> of the given data). We are given some prior data (also called training data), which classifies coordinates into groups identified by an attribute.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1"/>
            <a:ext cx="8229600" cy="1828800"/>
          </a:xfrm>
        </p:spPr>
        <p:txBody>
          <a:bodyPr>
            <a:normAutofit fontScale="70000" lnSpcReduction="20000"/>
          </a:bodyPr>
          <a:lstStyle/>
          <a:p>
            <a:r>
              <a:rPr lang="en-US" dirty="0" smtClean="0"/>
              <a:t>As an example, consider the following table of data points containing two features:</a:t>
            </a:r>
          </a:p>
          <a:p>
            <a:r>
              <a:rPr lang="en-US" dirty="0" smtClean="0"/>
              <a:t>Now, given another set of data points (also called testing data), allocate these points to a group by analyzing the training set. Note that the unclassified points are marked as ‘White’.</a:t>
            </a:r>
            <a:endParaRPr lang="en-US" dirty="0"/>
          </a:p>
        </p:txBody>
      </p:sp>
      <p:pic>
        <p:nvPicPr>
          <p:cNvPr id="1026" name="Picture 2" descr="KNN Algorithm working visualization"/>
          <p:cNvPicPr>
            <a:picLocks noChangeAspect="1" noChangeArrowheads="1"/>
          </p:cNvPicPr>
          <p:nvPr/>
        </p:nvPicPr>
        <p:blipFill>
          <a:blip r:embed="rId2"/>
          <a:srcRect/>
          <a:stretch>
            <a:fillRect/>
          </a:stretch>
        </p:blipFill>
        <p:spPr bwMode="auto">
          <a:xfrm>
            <a:off x="1143000" y="1945081"/>
            <a:ext cx="6781800" cy="494980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smtClean="0"/>
              <a:t>Intuition Behind KNN Algorithm</a:t>
            </a:r>
          </a:p>
          <a:p>
            <a:pPr fontAlgn="base"/>
            <a:r>
              <a:rPr lang="en-US" dirty="0" smtClean="0"/>
              <a:t>If we plot these points on a graph, we may be able to locate some clusters or groups. Now, given an unclassified point, we can assign it to a group by observing what group its nearest neighbors belong to. This means a point close to a cluster of points classified as ‘Red’ has a higher probability of getting classified as ‘Red’.</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K-NN algorithm works by finding the K nearest neighbors to a given data point based on a distance metric, such as Euclidean distance. The class or value of the data point is then determined by the majority vote or average of the K neighbors. This approach allows the algorithm to adapt to different patterns and make predictions based on the local structure of the data.</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smtClean="0"/>
              <a:t>Distance Metrics Used in KNN Algorithm</a:t>
            </a:r>
          </a:p>
          <a:p>
            <a:pPr fontAlgn="base"/>
            <a:r>
              <a:rPr lang="en-US" dirty="0" smtClean="0"/>
              <a:t>As we know that the KNN algorithm helps us identify the nearest points or the groups for a query point. But to determine the closest groups or the nearest points for a query point we need some metric. For this purpose, we use below distance metrics: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1"/>
            <a:ext cx="8229600" cy="3810000"/>
          </a:xfrm>
        </p:spPr>
        <p:txBody>
          <a:bodyPr>
            <a:normAutofit fontScale="92500" lnSpcReduction="20000"/>
          </a:bodyPr>
          <a:lstStyle/>
          <a:p>
            <a:pPr fontAlgn="base"/>
            <a:r>
              <a:rPr lang="en-US" b="1" dirty="0" smtClean="0"/>
              <a:t>Euclidean Distance</a:t>
            </a:r>
          </a:p>
          <a:p>
            <a:pPr fontAlgn="base"/>
            <a:r>
              <a:rPr lang="en-US" dirty="0" smtClean="0"/>
              <a:t>This is nothing but the </a:t>
            </a:r>
            <a:r>
              <a:rPr lang="en-US" dirty="0" err="1" smtClean="0"/>
              <a:t>cartesian</a:t>
            </a:r>
            <a:r>
              <a:rPr lang="en-US" dirty="0" smtClean="0"/>
              <a:t> distance between the two points which are in the plane/</a:t>
            </a:r>
            <a:r>
              <a:rPr lang="en-US" dirty="0" err="1" smtClean="0"/>
              <a:t>hyperplane</a:t>
            </a:r>
            <a:r>
              <a:rPr lang="en-US" dirty="0" smtClean="0"/>
              <a:t>. </a:t>
            </a:r>
            <a:r>
              <a:rPr lang="en-US" u="sng" dirty="0" smtClean="0">
                <a:hlinkClick r:id="rId2"/>
              </a:rPr>
              <a:t>Euclidean distance</a:t>
            </a:r>
            <a:r>
              <a:rPr lang="en-US" dirty="0" smtClean="0"/>
              <a:t> can also be visualized as the length of the straight line that joins the two points which are into consideration. This metric helps us calculate the net displacement done between the two states of an object.</a:t>
            </a:r>
          </a:p>
          <a:p>
            <a:endParaRPr lang="en-US" dirty="0"/>
          </a:p>
        </p:txBody>
      </p:sp>
      <p:pic>
        <p:nvPicPr>
          <p:cNvPr id="83969" name="Picture 1"/>
          <p:cNvPicPr>
            <a:picLocks noChangeAspect="1" noChangeArrowheads="1"/>
          </p:cNvPicPr>
          <p:nvPr/>
        </p:nvPicPr>
        <p:blipFill>
          <a:blip r:embed="rId3"/>
          <a:srcRect/>
          <a:stretch>
            <a:fillRect/>
          </a:stretch>
        </p:blipFill>
        <p:spPr bwMode="auto">
          <a:xfrm>
            <a:off x="2819400" y="5029200"/>
            <a:ext cx="3942539" cy="67627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1"/>
            <a:ext cx="8229600" cy="3505200"/>
          </a:xfrm>
        </p:spPr>
        <p:txBody>
          <a:bodyPr>
            <a:normAutofit lnSpcReduction="10000"/>
          </a:bodyPr>
          <a:lstStyle/>
          <a:p>
            <a:pPr fontAlgn="base"/>
            <a:r>
              <a:rPr lang="en-US" b="1" dirty="0" smtClean="0"/>
              <a:t>Manhattan Distance</a:t>
            </a:r>
          </a:p>
          <a:p>
            <a:pPr fontAlgn="base"/>
            <a:r>
              <a:rPr lang="en-US" u="sng" dirty="0" smtClean="0">
                <a:hlinkClick r:id="rId2"/>
              </a:rPr>
              <a:t>Manhattan Distance</a:t>
            </a:r>
            <a:r>
              <a:rPr lang="en-US" dirty="0" smtClean="0"/>
              <a:t> metric is generally used when we are interested in the total distance traveled by the object instead of the displacement. This metric is calculated by summing the absolute difference between the coordinates of the points in n-dimensions.</a:t>
            </a:r>
          </a:p>
          <a:p>
            <a:endParaRPr lang="en-US" dirty="0"/>
          </a:p>
        </p:txBody>
      </p:sp>
      <p:pic>
        <p:nvPicPr>
          <p:cNvPr id="82945" name="Picture 1"/>
          <p:cNvPicPr>
            <a:picLocks noChangeAspect="1" noChangeArrowheads="1"/>
          </p:cNvPicPr>
          <p:nvPr/>
        </p:nvPicPr>
        <p:blipFill>
          <a:blip r:embed="rId3"/>
          <a:srcRect/>
          <a:stretch>
            <a:fillRect/>
          </a:stretch>
        </p:blipFill>
        <p:spPr bwMode="auto">
          <a:xfrm>
            <a:off x="3200400" y="4953000"/>
            <a:ext cx="2895600" cy="700548"/>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base"/>
            <a:r>
              <a:rPr lang="en-US" b="1" dirty="0" smtClean="0"/>
              <a:t>How to choose the value of k for KNN Algorithm?</a:t>
            </a:r>
          </a:p>
          <a:p>
            <a:pPr fontAlgn="base"/>
            <a:r>
              <a:rPr lang="en-US" dirty="0" smtClean="0"/>
              <a:t>The value of k is very crucial in the KNN algorithm to define the number of neighbors in the algorithm. The value of k in the k-nearest neighbors (k-NN) algorithm should be chosen based on the input data. If the input data has more outliers or noise, a higher value of k would be better. It is recommended to choose an odd value for k to avoid ties in classification. </a:t>
            </a:r>
            <a:r>
              <a:rPr lang="en-US" u="sng" dirty="0" smtClean="0">
                <a:hlinkClick r:id="rId2"/>
              </a:rPr>
              <a:t>Cross-validation</a:t>
            </a:r>
            <a:r>
              <a:rPr lang="en-US" dirty="0" smtClean="0"/>
              <a:t> methods can help in selecting the best k value for the given dataset.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b="1" dirty="0" smtClean="0"/>
              <a:t>Algorithm for K-NN</a:t>
            </a:r>
          </a:p>
          <a:p>
            <a:pPr fontAlgn="base"/>
            <a:r>
              <a:rPr lang="en-US" dirty="0" smtClean="0"/>
              <a:t>Distance To NN =sort(distance from 1st example, distance from </a:t>
            </a:r>
            <a:r>
              <a:rPr lang="en-US" dirty="0" err="1" smtClean="0"/>
              <a:t>k</a:t>
            </a:r>
            <a:r>
              <a:rPr lang="en-US" baseline="30000" dirty="0" err="1" smtClean="0"/>
              <a:t>th</a:t>
            </a:r>
            <a:r>
              <a:rPr lang="en-US" dirty="0" smtClean="0"/>
              <a:t> example)</a:t>
            </a:r>
          </a:p>
          <a:p>
            <a:pPr fontAlgn="base"/>
            <a:r>
              <a:rPr lang="en-US" dirty="0" smtClean="0"/>
              <a:t>value </a:t>
            </a:r>
            <a:r>
              <a:rPr lang="en-US" dirty="0" err="1" smtClean="0"/>
              <a:t>i</a:t>
            </a:r>
            <a:r>
              <a:rPr lang="en-US" dirty="0" smtClean="0"/>
              <a:t>=1 to number of training records:</a:t>
            </a:r>
          </a:p>
          <a:p>
            <a:pPr fontAlgn="base"/>
            <a:r>
              <a:rPr lang="en-US" dirty="0" smtClean="0"/>
              <a:t>Dist=distance(test example, </a:t>
            </a:r>
            <a:r>
              <a:rPr lang="en-US" dirty="0" err="1" smtClean="0"/>
              <a:t>i</a:t>
            </a:r>
            <a:r>
              <a:rPr lang="en-US" baseline="30000" dirty="0" err="1" smtClean="0"/>
              <a:t>th</a:t>
            </a:r>
            <a:r>
              <a:rPr lang="en-US" dirty="0" smtClean="0"/>
              <a:t> example)</a:t>
            </a:r>
          </a:p>
          <a:p>
            <a:pPr fontAlgn="base"/>
            <a:r>
              <a:rPr lang="en-US" dirty="0" smtClean="0"/>
              <a:t>if (Dist&lt;any example in Distance To NN):</a:t>
            </a:r>
          </a:p>
          <a:p>
            <a:pPr fontAlgn="base"/>
            <a:r>
              <a:rPr lang="en-US" dirty="0" smtClean="0"/>
              <a:t>Remove the example from Distance To NN and value.</a:t>
            </a:r>
          </a:p>
          <a:p>
            <a:pPr fontAlgn="base"/>
            <a:r>
              <a:rPr lang="en-US" dirty="0" smtClean="0"/>
              <a:t>Put new example in Distance To NN and value in sorted order.</a:t>
            </a:r>
          </a:p>
          <a:p>
            <a:pPr fontAlgn="base"/>
            <a:r>
              <a:rPr lang="en-US" dirty="0" smtClean="0"/>
              <a:t>Return average of value</a:t>
            </a:r>
          </a:p>
          <a:p>
            <a:pPr fontAlgn="base"/>
            <a:r>
              <a:rPr lang="en-US" dirty="0" smtClean="0"/>
              <a:t>Fit using K-NN is more reasonable than 1-NN, K-NN affects very less from noise if dataset is large.</a:t>
            </a:r>
          </a:p>
          <a:p>
            <a:endParaRPr 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smtClean="0"/>
              <a:t>Workings of KNN algorithm</a:t>
            </a:r>
          </a:p>
          <a:p>
            <a:pPr fontAlgn="base"/>
            <a:r>
              <a:rPr lang="en-US" dirty="0" err="1" smtClean="0"/>
              <a:t>Thе</a:t>
            </a:r>
            <a:r>
              <a:rPr lang="en-US" dirty="0" smtClean="0"/>
              <a:t> K-Nearest Neighbors (KNN) algorithm operates on the principle of similarity, where it predicts the label or value of a new data point by considering the labels or values of its K nearest neighbors in the training dataset.</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8850" name="Picture 2" descr="Workings of KNN algorithm"/>
          <p:cNvPicPr>
            <a:picLocks noChangeAspect="1" noChangeArrowheads="1"/>
          </p:cNvPicPr>
          <p:nvPr/>
        </p:nvPicPr>
        <p:blipFill>
          <a:blip r:embed="rId2"/>
          <a:srcRect/>
          <a:stretch>
            <a:fillRect/>
          </a:stretch>
        </p:blipFill>
        <p:spPr bwMode="auto">
          <a:xfrm>
            <a:off x="0" y="1447800"/>
            <a:ext cx="9525000" cy="3743325"/>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dirty="0" smtClean="0"/>
              <a:t>Step-by-Step explanation of how KNN works is discussed below:</a:t>
            </a:r>
          </a:p>
          <a:p>
            <a:pPr fontAlgn="base"/>
            <a:r>
              <a:rPr lang="en-US" b="1" dirty="0" smtClean="0"/>
              <a:t>Step 1: Selecting the optimal value of K</a:t>
            </a:r>
          </a:p>
          <a:p>
            <a:pPr fontAlgn="base"/>
            <a:r>
              <a:rPr lang="en-US" dirty="0" smtClean="0"/>
              <a:t>K represents the number of nearest neighbors that needs to be considered while making prediction.</a:t>
            </a:r>
          </a:p>
          <a:p>
            <a:pPr fontAlgn="base"/>
            <a:r>
              <a:rPr lang="en-US" b="1" dirty="0" smtClean="0"/>
              <a:t>Step 2: Calculating distance</a:t>
            </a:r>
          </a:p>
          <a:p>
            <a:pPr fontAlgn="base"/>
            <a:r>
              <a:rPr lang="en-US" dirty="0" smtClean="0"/>
              <a:t>To measure the similarity between target and training data points, Euclidean distance is used. Distance is calculated between each of the data points in the dataset and target point.</a:t>
            </a:r>
          </a:p>
          <a:p>
            <a:pPr fontAlgn="base"/>
            <a:r>
              <a:rPr lang="en-US" b="1" dirty="0" smtClean="0"/>
              <a:t>Step 3: Finding Nearest Neighbors</a:t>
            </a:r>
          </a:p>
          <a:p>
            <a:pPr fontAlgn="base"/>
            <a:r>
              <a:rPr lang="en-US" dirty="0" smtClean="0"/>
              <a:t>The k data points with the smallest distances to the target point are the nearest neighbors.</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base"/>
            <a:r>
              <a:rPr lang="en-US" b="1" dirty="0" smtClean="0"/>
              <a:t>Step 4: Voting for Classification or Taking Average for Regression</a:t>
            </a:r>
          </a:p>
          <a:p>
            <a:pPr fontAlgn="base"/>
            <a:r>
              <a:rPr lang="en-US" dirty="0" smtClean="0"/>
              <a:t>In the classification problem, the class labels of K-nearest neighbors are determined by performing majority voting. The class with the most occurrences among the neighbors becomes the predicted class for the target data point.</a:t>
            </a:r>
          </a:p>
          <a:p>
            <a:pPr fontAlgn="base"/>
            <a:r>
              <a:rPr lang="en-US" dirty="0" smtClean="0"/>
              <a:t>In the regression problem, the class label is calculated by taking average of the target values of K nearest neighbors. The calculated average value becomes the predicted output for the target data point.</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1"/>
            <a:ext cx="8229600" cy="3733800"/>
          </a:xfrm>
        </p:spPr>
        <p:txBody>
          <a:bodyPr>
            <a:normAutofit lnSpcReduction="10000"/>
          </a:bodyPr>
          <a:lstStyle/>
          <a:p>
            <a:r>
              <a:rPr lang="en-US" dirty="0" smtClean="0"/>
              <a:t>Let X be the training dataset with n data points, where each data point is represented by a d-dimensional feature vector </a:t>
            </a:r>
            <a:r>
              <a:rPr lang="en-US" i="1" dirty="0" smtClean="0"/>
              <a:t>X</a:t>
            </a:r>
            <a:r>
              <a:rPr lang="en-US" i="1" baseline="-25000" dirty="0" smtClean="0"/>
              <a:t>i</a:t>
            </a:r>
            <a:r>
              <a:rPr lang="en-US" baseline="-25000" dirty="0" smtClean="0"/>
              <a:t>​</a:t>
            </a:r>
            <a:r>
              <a:rPr lang="en-US" dirty="0" smtClean="0"/>
              <a:t> and Y be the corresponding labels or values for each data point in X. Given a new data point x, the algorithm calculates the distance between x and each data point </a:t>
            </a:r>
            <a:r>
              <a:rPr lang="en-US" i="1" dirty="0" smtClean="0"/>
              <a:t>X</a:t>
            </a:r>
            <a:r>
              <a:rPr lang="en-US" i="1" baseline="-25000" dirty="0" smtClean="0"/>
              <a:t>i</a:t>
            </a:r>
            <a:r>
              <a:rPr lang="en-US" baseline="-25000" dirty="0" smtClean="0"/>
              <a:t>​</a:t>
            </a:r>
            <a:r>
              <a:rPr lang="en-US" dirty="0" smtClean="0"/>
              <a:t> in X using a distance metric, such as Euclidean distance:</a:t>
            </a:r>
            <a:endParaRPr lang="en-US" dirty="0"/>
          </a:p>
        </p:txBody>
      </p:sp>
      <p:pic>
        <p:nvPicPr>
          <p:cNvPr id="88066" name="Picture 2"/>
          <p:cNvPicPr>
            <a:picLocks noChangeAspect="1" noChangeArrowheads="1"/>
          </p:cNvPicPr>
          <p:nvPr/>
        </p:nvPicPr>
        <p:blipFill>
          <a:blip r:embed="rId2"/>
          <a:srcRect/>
          <a:stretch>
            <a:fillRect/>
          </a:stretch>
        </p:blipFill>
        <p:spPr bwMode="auto">
          <a:xfrm>
            <a:off x="2971800" y="5334000"/>
            <a:ext cx="3553838" cy="6096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algorithm selects the K data points from X that have the shortest distances to x. For classification tasks, the algorithm assigns the label y that is most frequent among the K nearest neighbors to x. For regression tasks, the algorithm calculates the average or weighted average of the values y of the K nearest neighbors and assigns it as the predicted value for x.</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987</Words>
  <Application>Microsoft Office PowerPoint</Application>
  <PresentationFormat>On-screen Show (4:3)</PresentationFormat>
  <Paragraphs>60</Paragraphs>
  <Slides>24</Slides>
  <Notes>0</Notes>
  <HiddenSlides>1</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Support Vector Machine (SVM) Algorithm &amp; K-Nearest Neighbor (KNN) Algorithm</vt:lpstr>
      <vt:lpstr>Support Vector Machine (SVM) Algorithm</vt:lpstr>
      <vt:lpstr>Slide 3</vt:lpstr>
      <vt:lpstr>Slide 4</vt:lpstr>
      <vt:lpstr>Slide 5</vt:lpstr>
      <vt:lpstr>Slide 6</vt:lpstr>
      <vt:lpstr>Slide 7</vt:lpstr>
      <vt:lpstr>Slide 8</vt:lpstr>
      <vt:lpstr>Slide 9</vt:lpstr>
      <vt:lpstr>K-Nearest Neighbor(KNN) Algorithm</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Vector Machine (SVM) Algorithm &amp; K-Nearest Neighbor(KNN) Algorithm</dc:title>
  <dc:creator>Hi-Tech</dc:creator>
  <cp:lastModifiedBy>Hi-Tech</cp:lastModifiedBy>
  <cp:revision>2</cp:revision>
  <dcterms:created xsi:type="dcterms:W3CDTF">2024-12-01T21:30:03Z</dcterms:created>
  <dcterms:modified xsi:type="dcterms:W3CDTF">2024-12-01T22:11:46Z</dcterms:modified>
</cp:coreProperties>
</file>